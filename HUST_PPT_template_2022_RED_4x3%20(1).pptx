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42"/>
  </p:notesMasterIdLst>
  <p:handoutMasterIdLst>
    <p:handoutMasterId r:id="rId43"/>
  </p:handoutMasterIdLst>
  <p:sldIdLst>
    <p:sldId id="275" r:id="rId2"/>
    <p:sldId id="276" r:id="rId3"/>
    <p:sldId id="257" r:id="rId4"/>
    <p:sldId id="267" r:id="rId5"/>
    <p:sldId id="277" r:id="rId6"/>
    <p:sldId id="265" r:id="rId7"/>
    <p:sldId id="261" r:id="rId8"/>
    <p:sldId id="270" r:id="rId9"/>
    <p:sldId id="278" r:id="rId10"/>
    <p:sldId id="272" r:id="rId11"/>
    <p:sldId id="280" r:id="rId12"/>
    <p:sldId id="279" r:id="rId13"/>
    <p:sldId id="309" r:id="rId14"/>
    <p:sldId id="311" r:id="rId15"/>
    <p:sldId id="310" r:id="rId16"/>
    <p:sldId id="281" r:id="rId17"/>
    <p:sldId id="318" r:id="rId18"/>
    <p:sldId id="319" r:id="rId19"/>
    <p:sldId id="320" r:id="rId20"/>
    <p:sldId id="322" r:id="rId21"/>
    <p:sldId id="287" r:id="rId22"/>
    <p:sldId id="290" r:id="rId23"/>
    <p:sldId id="289" r:id="rId24"/>
    <p:sldId id="292" r:id="rId25"/>
    <p:sldId id="291" r:id="rId26"/>
    <p:sldId id="305" r:id="rId27"/>
    <p:sldId id="306" r:id="rId28"/>
    <p:sldId id="324" r:id="rId29"/>
    <p:sldId id="323" r:id="rId30"/>
    <p:sldId id="314" r:id="rId31"/>
    <p:sldId id="315" r:id="rId32"/>
    <p:sldId id="301" r:id="rId33"/>
    <p:sldId id="302" r:id="rId34"/>
    <p:sldId id="312" r:id="rId35"/>
    <p:sldId id="313" r:id="rId36"/>
    <p:sldId id="316" r:id="rId37"/>
    <p:sldId id="317" r:id="rId38"/>
    <p:sldId id="307" r:id="rId39"/>
    <p:sldId id="308" r:id="rId40"/>
    <p:sldId id="269"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9" autoAdjust="0"/>
    <p:restoredTop sz="94660"/>
  </p:normalViewPr>
  <p:slideViewPr>
    <p:cSldViewPr snapToGrid="0">
      <p:cViewPr varScale="1">
        <p:scale>
          <a:sx n="127" d="100"/>
          <a:sy n="127" d="100"/>
        </p:scale>
        <p:origin x="136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6/25/26</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6/25/26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6">
            <a:extLst>
              <a:ext uri="{FF2B5EF4-FFF2-40B4-BE49-F238E27FC236}">
                <a16:creationId xmlns:a16="http://schemas.microsoft.com/office/drawing/2014/main" id="{C5DD3B49-F775-49FC-ACAD-45B074D1C945}"/>
              </a:ext>
            </a:extLst>
          </p:cNvPr>
          <p:cNvSpPr>
            <a:spLocks noGrp="1"/>
          </p:cNvSpPr>
          <p:nvPr>
            <p:ph type="title" hasCustomPrompt="1"/>
          </p:nvPr>
        </p:nvSpPr>
        <p:spPr>
          <a:xfrm>
            <a:off x="2380488" y="2365248"/>
            <a:ext cx="4383024" cy="2127504"/>
          </a:xfrm>
          <a:prstGeom prst="rect">
            <a:avLst/>
          </a:prstGeom>
        </p:spPr>
        <p:txBody>
          <a:bodyPr/>
          <a:lstStyle>
            <a:lvl1pPr algn="ctr">
              <a:defRPr sz="4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CLICK TO EDIT MASTER TITLE STYLE</a:t>
            </a:r>
          </a:p>
        </p:txBody>
      </p:sp>
    </p:spTree>
    <p:extLst>
      <p:ext uri="{BB962C8B-B14F-4D97-AF65-F5344CB8AC3E}">
        <p14:creationId xmlns:p14="http://schemas.microsoft.com/office/powerpoint/2010/main" val="678804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6/25/26</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6/25/26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6/25/26</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Title 6">
            <a:extLst>
              <a:ext uri="{FF2B5EF4-FFF2-40B4-BE49-F238E27FC236}">
                <a16:creationId xmlns:a16="http://schemas.microsoft.com/office/drawing/2014/main" id="{689FBFE6-E7AD-40DE-88B8-794C73F956C5}"/>
              </a:ext>
            </a:extLst>
          </p:cNvPr>
          <p:cNvSpPr>
            <a:spLocks noGrp="1"/>
          </p:cNvSpPr>
          <p:nvPr>
            <p:ph type="title" hasCustomPrompt="1"/>
          </p:nvPr>
        </p:nvSpPr>
        <p:spPr>
          <a:xfrm>
            <a:off x="3511295" y="224917"/>
            <a:ext cx="5397627" cy="451739"/>
          </a:xfrm>
          <a:prstGeom prst="rect">
            <a:avLst/>
          </a:prstGeom>
        </p:spPr>
        <p:txBody>
          <a:bodyPr/>
          <a:lstStyle>
            <a:lvl1pPr>
              <a:defRPr sz="2800" b="1">
                <a:solidFill>
                  <a:schemeClr val="tx1"/>
                </a:solidFill>
                <a:latin typeface="Lato" panose="020F0502020204030203" pitchFamily="34" charset="0"/>
                <a:ea typeface="Lato" panose="020F0502020204030203" pitchFamily="34" charset="0"/>
                <a:cs typeface="Lato" panose="020F0502020204030203" pitchFamily="34" charset="0"/>
              </a:defRPr>
            </a:lvl1pPr>
          </a:lstStyle>
          <a:p>
            <a:r>
              <a:rPr lang="en-US" dirty="0"/>
              <a:t>Title 5: ……………………………………</a:t>
            </a:r>
          </a:p>
        </p:txBody>
      </p:sp>
      <p:sp>
        <p:nvSpPr>
          <p:cNvPr id="12" name="Text Placeholder 7">
            <a:extLst>
              <a:ext uri="{FF2B5EF4-FFF2-40B4-BE49-F238E27FC236}">
                <a16:creationId xmlns:a16="http://schemas.microsoft.com/office/drawing/2014/main" id="{1C2ED7A5-CBB5-4B5C-BD2A-3596087A71FA}"/>
              </a:ext>
            </a:extLst>
          </p:cNvPr>
          <p:cNvSpPr>
            <a:spLocks noGrp="1"/>
          </p:cNvSpPr>
          <p:nvPr>
            <p:ph type="body" sz="quarter" idx="13"/>
          </p:nvPr>
        </p:nvSpPr>
        <p:spPr>
          <a:xfrm>
            <a:off x="3524251" y="1011238"/>
            <a:ext cx="5384672" cy="552926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Date Placeholder 3">
            <a:extLst>
              <a:ext uri="{FF2B5EF4-FFF2-40B4-BE49-F238E27FC236}">
                <a16:creationId xmlns:a16="http://schemas.microsoft.com/office/drawing/2014/main" id="{E21F2271-B488-4DC9-A50E-592D82F22CE9}"/>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6/25/26</a:t>
            </a:fld>
            <a:endParaRPr lang="en-US"/>
          </a:p>
        </p:txBody>
      </p:sp>
      <p:sp>
        <p:nvSpPr>
          <p:cNvPr id="14" name="Footer Placeholder 4">
            <a:extLst>
              <a:ext uri="{FF2B5EF4-FFF2-40B4-BE49-F238E27FC236}">
                <a16:creationId xmlns:a16="http://schemas.microsoft.com/office/drawing/2014/main" id="{706E966D-F219-41DE-82BF-3F3121B7DCCC}"/>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Slide Number Placeholder 5">
            <a:extLst>
              <a:ext uri="{FF2B5EF4-FFF2-40B4-BE49-F238E27FC236}">
                <a16:creationId xmlns:a16="http://schemas.microsoft.com/office/drawing/2014/main" id="{AF61A491-C108-489A-B2EA-9FC27DAD4D2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313388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6/25/26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6/25/26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6/25/26</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6/25/26</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6/25/26</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83" r:id="rId6"/>
    <p:sldLayoutId id="2147483676" r:id="rId7"/>
    <p:sldLayoutId id="2147483679" r:id="rId8"/>
    <p:sldLayoutId id="2147483680" r:id="rId9"/>
    <p:sldLayoutId id="2147483681" r:id="rId10"/>
    <p:sldLayoutId id="2147483682" r:id="rId11"/>
    <p:sldLayoutId id="214748367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30.jp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g"/><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3716-1A4C-0838-86B6-64CAAF77DF5B}"/>
              </a:ext>
            </a:extLst>
          </p:cNvPr>
          <p:cNvSpPr>
            <a:spLocks noGrp="1"/>
          </p:cNvSpPr>
          <p:nvPr>
            <p:ph type="title"/>
          </p:nvPr>
        </p:nvSpPr>
        <p:spPr/>
        <p:txBody>
          <a:bodyPr/>
          <a:lstStyle/>
          <a:p>
            <a:r>
              <a:rPr lang="en-US" sz="3200" b="0" dirty="0"/>
              <a:t>How Much Power Must We Extract From a Receiver Antenna to Effect Communications?</a:t>
            </a:r>
            <a:r>
              <a:rPr lang="en-US" sz="3200" dirty="0"/>
              <a:t> </a:t>
            </a:r>
            <a:br>
              <a:rPr lang="en-US" sz="3200" dirty="0"/>
            </a:br>
            <a:endParaRPr lang="en-US" sz="3200" dirty="0"/>
          </a:p>
        </p:txBody>
      </p:sp>
    </p:spTree>
    <p:extLst>
      <p:ext uri="{BB962C8B-B14F-4D97-AF65-F5344CB8AC3E}">
        <p14:creationId xmlns:p14="http://schemas.microsoft.com/office/powerpoint/2010/main" val="9450034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2421636"/>
            <a:ext cx="7342482"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400" dirty="0"/>
              <a:t>Evaluating the Necessity of Power Extraction in</a:t>
            </a:r>
          </a:p>
          <a:p>
            <a:r>
              <a:rPr lang="en-US" sz="2400" dirty="0"/>
              <a:t>Receiver Antennas via Gradient Descent</a:t>
            </a:r>
          </a:p>
          <a:p>
            <a:r>
              <a:rPr lang="en-US" sz="2400" dirty="0"/>
              <a:t>Optimization</a:t>
            </a: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567622"/>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000" b="0" dirty="0"/>
              <a:t>Vũ Nguyễn Anh Tuân 202417212</a:t>
            </a:r>
          </a:p>
          <a:p>
            <a:r>
              <a:rPr lang="en-US" sz="2000" b="0" dirty="0"/>
              <a:t>Nguyễn Phan </a:t>
            </a:r>
            <a:r>
              <a:rPr lang="en-US" sz="2000" b="0" dirty="0" err="1"/>
              <a:t>Vĩ</a:t>
            </a:r>
            <a:r>
              <a:rPr lang="en-US" sz="2000" b="0" dirty="0"/>
              <a:t> 202417218</a:t>
            </a:r>
          </a:p>
          <a:p>
            <a:r>
              <a:rPr lang="en-US" sz="2000" b="0" dirty="0"/>
              <a:t>Phan Công Trường Sơn 202417190</a:t>
            </a:r>
          </a:p>
          <a:p>
            <a:r>
              <a:rPr lang="en-US" sz="2000" b="0" dirty="0"/>
              <a:t>Phạm Huy Khánh 202417137</a:t>
            </a:r>
          </a:p>
          <a:p>
            <a:endParaRPr lang="en-US" sz="2000" b="0" dirty="0"/>
          </a:p>
        </p:txBody>
      </p:sp>
    </p:spTree>
    <p:extLst>
      <p:ext uri="{BB962C8B-B14F-4D97-AF65-F5344CB8AC3E}">
        <p14:creationId xmlns:p14="http://schemas.microsoft.com/office/powerpoint/2010/main" val="743172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A7ECF-1792-4255-AF79-1338056A166B}"/>
              </a:ext>
            </a:extLst>
          </p:cNvPr>
          <p:cNvSpPr>
            <a:spLocks noGrp="1"/>
          </p:cNvSpPr>
          <p:nvPr>
            <p:ph type="title"/>
          </p:nvPr>
        </p:nvSpPr>
        <p:spPr/>
        <p:txBody>
          <a:bodyPr/>
          <a:lstStyle/>
          <a:p>
            <a:r>
              <a:rPr lang="en-US" dirty="0"/>
              <a:t>Table of contents</a:t>
            </a:r>
          </a:p>
        </p:txBody>
      </p:sp>
      <p:sp>
        <p:nvSpPr>
          <p:cNvPr id="3" name="Text Placeholder 2">
            <a:extLst>
              <a:ext uri="{FF2B5EF4-FFF2-40B4-BE49-F238E27FC236}">
                <a16:creationId xmlns:a16="http://schemas.microsoft.com/office/drawing/2014/main" id="{387A365B-2C63-46A3-AD64-BA52831BEC40}"/>
              </a:ext>
            </a:extLst>
          </p:cNvPr>
          <p:cNvSpPr>
            <a:spLocks noGrp="1"/>
          </p:cNvSpPr>
          <p:nvPr>
            <p:ph type="body" sz="quarter" idx="13"/>
          </p:nvPr>
        </p:nvSpPr>
        <p:spPr/>
        <p:txBody>
          <a:bodyPr/>
          <a:lstStyle/>
          <a:p>
            <a:pPr marL="571500" indent="-571500">
              <a:buAutoNum type="romanUcPeriod"/>
            </a:pPr>
            <a:endParaRPr lang="en-US" dirty="0"/>
          </a:p>
          <a:p>
            <a:pPr marL="0" indent="0">
              <a:buNone/>
            </a:pPr>
            <a:endParaRPr lang="en-US" dirty="0"/>
          </a:p>
          <a:p>
            <a:pPr marL="571500" indent="-571500">
              <a:buAutoNum type="romanUcPeriod"/>
            </a:pPr>
            <a:r>
              <a:rPr lang="en-US" dirty="0"/>
              <a:t>Overview of the original paper</a:t>
            </a:r>
          </a:p>
          <a:p>
            <a:pPr marL="571500" indent="-571500">
              <a:buAutoNum type="romanUcPeriod"/>
            </a:pPr>
            <a:r>
              <a:rPr lang="en-US" dirty="0"/>
              <a:t>Optimization objectives and method</a:t>
            </a:r>
          </a:p>
          <a:p>
            <a:pPr marL="571500" indent="-571500">
              <a:buAutoNum type="romanUcPeriod"/>
            </a:pPr>
            <a:r>
              <a:rPr lang="en-US" dirty="0"/>
              <a:t>Obtained results</a:t>
            </a:r>
          </a:p>
          <a:p>
            <a:pPr marL="571500" indent="-571500">
              <a:buAutoNum type="romanUcPeriod"/>
            </a:pPr>
            <a:r>
              <a:rPr lang="en-US" dirty="0"/>
              <a:t>Conclusions</a:t>
            </a:r>
          </a:p>
        </p:txBody>
      </p:sp>
      <p:sp>
        <p:nvSpPr>
          <p:cNvPr id="4" name="Slide Number Placeholder 3">
            <a:extLst>
              <a:ext uri="{FF2B5EF4-FFF2-40B4-BE49-F238E27FC236}">
                <a16:creationId xmlns:a16="http://schemas.microsoft.com/office/drawing/2014/main" id="{FB67697B-E2F6-452F-B4AF-9444ACC6F580}"/>
              </a:ext>
            </a:extLst>
          </p:cNvPr>
          <p:cNvSpPr>
            <a:spLocks noGrp="1"/>
          </p:cNvSpPr>
          <p:nvPr>
            <p:ph type="sldNum" sz="quarter" idx="12"/>
          </p:nvPr>
        </p:nvSpPr>
        <p:spPr/>
        <p:txBody>
          <a:bodyPr/>
          <a:lstStyle/>
          <a:p>
            <a:fld id="{9EA0BE3B-158A-4EDF-80DC-E394A0D1600F}" type="slidenum">
              <a:rPr lang="en-US" smtClean="0"/>
              <a:pPr/>
              <a:t>4</a:t>
            </a:fld>
            <a:endParaRPr lang="en-US" dirty="0"/>
          </a:p>
        </p:txBody>
      </p:sp>
    </p:spTree>
    <p:extLst>
      <p:ext uri="{BB962C8B-B14F-4D97-AF65-F5344CB8AC3E}">
        <p14:creationId xmlns:p14="http://schemas.microsoft.com/office/powerpoint/2010/main" val="3194012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DD89F-5FB4-C204-9391-669079DEFD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944646-E2A7-10FD-9C63-DDB9B458DABE}"/>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5D59CAA8-3D73-CD6E-C9F4-A8E54864B4C5}"/>
              </a:ext>
            </a:extLst>
          </p:cNvPr>
          <p:cNvSpPr>
            <a:spLocks noGrp="1"/>
          </p:cNvSpPr>
          <p:nvPr>
            <p:ph type="body" sz="quarter" idx="13"/>
          </p:nvPr>
        </p:nvSpPr>
        <p:spPr/>
        <p:txBody>
          <a:bodyPr/>
          <a:lstStyle/>
          <a:p>
            <a:pPr marL="571500" indent="-571500">
              <a:buAutoNum type="romanUcPeriod"/>
            </a:pPr>
            <a:endParaRPr lang="en-US" dirty="0"/>
          </a:p>
          <a:p>
            <a:pPr marL="0" indent="0">
              <a:buNone/>
            </a:pPr>
            <a:endParaRPr lang="en-US" dirty="0"/>
          </a:p>
          <a:p>
            <a:pPr marL="0" indent="0">
              <a:buNone/>
            </a:pPr>
            <a:endParaRPr lang="en-US" dirty="0"/>
          </a:p>
          <a:p>
            <a:pPr marL="571500" indent="-571500">
              <a:buAutoNum type="romanUcPeriod"/>
            </a:pPr>
            <a:r>
              <a:rPr lang="en-US" sz="3600" dirty="0"/>
              <a:t>Overview of the original paper</a:t>
            </a:r>
          </a:p>
        </p:txBody>
      </p:sp>
      <p:sp>
        <p:nvSpPr>
          <p:cNvPr id="4" name="Slide Number Placeholder 3">
            <a:extLst>
              <a:ext uri="{FF2B5EF4-FFF2-40B4-BE49-F238E27FC236}">
                <a16:creationId xmlns:a16="http://schemas.microsoft.com/office/drawing/2014/main" id="{301CC5D6-E780-F28A-96F8-FE01482A2C2C}"/>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Tree>
    <p:extLst>
      <p:ext uri="{BB962C8B-B14F-4D97-AF65-F5344CB8AC3E}">
        <p14:creationId xmlns:p14="http://schemas.microsoft.com/office/powerpoint/2010/main" val="3742004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6</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dirty="0"/>
              <a:t>Paper’s goals:</a:t>
            </a:r>
            <a:br>
              <a:rPr lang="en-US" dirty="0"/>
            </a:br>
            <a:br>
              <a:rPr lang="en-US" dirty="0"/>
            </a:br>
            <a:br>
              <a:rPr lang="en-US" dirty="0"/>
            </a:br>
            <a:endParaRPr lang="en-US" dirty="0"/>
          </a:p>
        </p:txBody>
      </p:sp>
      <p:sp>
        <p:nvSpPr>
          <p:cNvPr id="4" name="Content Placeholder 3">
            <a:extLst>
              <a:ext uri="{FF2B5EF4-FFF2-40B4-BE49-F238E27FC236}">
                <a16:creationId xmlns:a16="http://schemas.microsoft.com/office/drawing/2014/main" id="{59563378-38F8-4CB3-AF99-2C56FCF55404}"/>
              </a:ext>
            </a:extLst>
          </p:cNvPr>
          <p:cNvSpPr>
            <a:spLocks noGrp="1"/>
          </p:cNvSpPr>
          <p:nvPr>
            <p:ph sz="quarter" idx="13"/>
          </p:nvPr>
        </p:nvSpPr>
        <p:spPr/>
        <p:txBody>
          <a:bodyPr/>
          <a:lstStyle/>
          <a:p>
            <a:endParaRPr lang="en-US" dirty="0"/>
          </a:p>
          <a:p>
            <a:pPr marL="0" indent="0">
              <a:buNone/>
            </a:pPr>
            <a:endParaRPr lang="en-US" dirty="0"/>
          </a:p>
          <a:p>
            <a:pPr marL="0" indent="0">
              <a:buNone/>
            </a:pPr>
            <a:endParaRPr lang="en-US" dirty="0"/>
          </a:p>
          <a:p>
            <a:r>
              <a:rPr lang="en-US" dirty="0"/>
              <a:t>Challenge the common technical assumptions and practices that power extraction as essential</a:t>
            </a:r>
          </a:p>
          <a:p>
            <a:r>
              <a:rPr lang="en-US" dirty="0"/>
              <a:t>Highlight the distinction between what is physically mandatory and what is merely a convenience in design</a:t>
            </a:r>
          </a:p>
        </p:txBody>
      </p:sp>
    </p:spTree>
    <p:extLst>
      <p:ext uri="{BB962C8B-B14F-4D97-AF65-F5344CB8AC3E}">
        <p14:creationId xmlns:p14="http://schemas.microsoft.com/office/powerpoint/2010/main" val="292364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prstGeom prst="rect">
            <a:avLst/>
          </a:prstGeom>
        </p:spPr>
        <p:txBody>
          <a:bodyPr/>
          <a:lstStyle/>
          <a:p>
            <a:fld id="{9EA0BE3B-158A-4EDF-80DC-E394A0D1600F}" type="slidenum">
              <a:rPr lang="en-US" smtClean="0"/>
              <a:pPr/>
              <a:t>7</a:t>
            </a:fld>
            <a:endParaRPr lang="en-US"/>
          </a:p>
        </p:txBody>
      </p:sp>
      <p:sp>
        <p:nvSpPr>
          <p:cNvPr id="8" name="Content Placeholder 7">
            <a:extLst>
              <a:ext uri="{FF2B5EF4-FFF2-40B4-BE49-F238E27FC236}">
                <a16:creationId xmlns:a16="http://schemas.microsoft.com/office/drawing/2014/main" id="{23B7B6C5-5F17-CF84-7FC4-995B1419E93C}"/>
              </a:ext>
            </a:extLst>
          </p:cNvPr>
          <p:cNvSpPr>
            <a:spLocks noGrp="1"/>
          </p:cNvSpPr>
          <p:nvPr>
            <p:ph sz="half" idx="1"/>
          </p:nvPr>
        </p:nvSpPr>
        <p:spPr>
          <a:xfrm>
            <a:off x="528828" y="1423288"/>
            <a:ext cx="3886200" cy="4917126"/>
          </a:xfrm>
        </p:spPr>
        <p:txBody>
          <a:bodyPr/>
          <a:lstStyle/>
          <a:p>
            <a:r>
              <a:rPr lang="en-US" sz="1800" dirty="0"/>
              <a:t>Rejects the notion that extracting power from a receiver antenna is imperative</a:t>
            </a:r>
          </a:p>
          <a:p>
            <a:pPr marL="0" indent="0">
              <a:buNone/>
            </a:pPr>
            <a:endParaRPr lang="en-US" sz="1800" dirty="0"/>
          </a:p>
          <a:p>
            <a:r>
              <a:rPr lang="en-US" sz="1800" dirty="0"/>
              <a:t>Shannon information theory is purely mathematical and does not represent the physical world</a:t>
            </a:r>
          </a:p>
          <a:p>
            <a:endParaRPr lang="en-US" sz="1800" dirty="0"/>
          </a:p>
          <a:p>
            <a:r>
              <a:rPr lang="en-US" sz="1800" dirty="0"/>
              <a:t>Presents amplifier circuits capable of measuring the open-circuit voltage without extracting power</a:t>
            </a:r>
          </a:p>
          <a:p>
            <a:endParaRPr lang="en-US" sz="1800" dirty="0"/>
          </a:p>
          <a:p>
            <a:r>
              <a:rPr lang="en-US" sz="1800" dirty="0"/>
              <a:t>Impedance matching does not necessarily result in optimized SNR value</a:t>
            </a:r>
          </a:p>
          <a:p>
            <a:endParaRPr lang="en-US" sz="1800" dirty="0"/>
          </a:p>
        </p:txBody>
      </p:sp>
      <p:sp>
        <p:nvSpPr>
          <p:cNvPr id="9" name="Content Placeholder 8">
            <a:extLst>
              <a:ext uri="{FF2B5EF4-FFF2-40B4-BE49-F238E27FC236}">
                <a16:creationId xmlns:a16="http://schemas.microsoft.com/office/drawing/2014/main" id="{97DEA34C-3221-61A4-3696-701C4EF0FC2C}"/>
              </a:ext>
            </a:extLst>
          </p:cNvPr>
          <p:cNvSpPr>
            <a:spLocks noGrp="1"/>
          </p:cNvSpPr>
          <p:nvPr>
            <p:ph sz="half" idx="2"/>
          </p:nvPr>
        </p:nvSpPr>
        <p:spPr>
          <a:xfrm>
            <a:off x="4572000" y="1423289"/>
            <a:ext cx="3886200" cy="4917126"/>
          </a:xfrm>
        </p:spPr>
        <p:txBody>
          <a:bodyPr/>
          <a:lstStyle/>
          <a:p>
            <a:r>
              <a:rPr lang="en-US" sz="1800" dirty="0"/>
              <a:t>Noise figure is merely a standard definition and is not a physical principle</a:t>
            </a:r>
          </a:p>
          <a:p>
            <a:endParaRPr lang="en-US" sz="1800" dirty="0"/>
          </a:p>
          <a:p>
            <a:r>
              <a:rPr lang="en-US" sz="1800" dirty="0"/>
              <a:t>Impedance matching and power extraction can sometimes be used advantageously to obtain noise-free voltage gain prior to the preamplifier, but is impractical</a:t>
            </a:r>
            <a:br>
              <a:rPr lang="en-US" sz="1800" dirty="0"/>
            </a:br>
            <a:endParaRPr lang="en-US" sz="1800" dirty="0"/>
          </a:p>
          <a:p>
            <a:r>
              <a:rPr lang="en-US" sz="1800" dirty="0"/>
              <a:t>Suggests applying lessons learned to broad-band receiver antenna arrays and possible advantages of measuring open-circuit voltages on the antenna ports as opposed to drawing current from the antennas </a:t>
            </a:r>
            <a:br>
              <a:rPr lang="en-US" sz="1800" dirty="0"/>
            </a:br>
            <a:endParaRPr lang="en-US" sz="1800" dirty="0"/>
          </a:p>
        </p:txBody>
      </p:sp>
      <p:sp>
        <p:nvSpPr>
          <p:cNvPr id="2" name="Title 1">
            <a:extLst>
              <a:ext uri="{FF2B5EF4-FFF2-40B4-BE49-F238E27FC236}">
                <a16:creationId xmlns:a16="http://schemas.microsoft.com/office/drawing/2014/main" id="{4FB6CB3A-046A-4C56-A02D-DBF672421CAF}"/>
              </a:ext>
            </a:extLst>
          </p:cNvPr>
          <p:cNvSpPr>
            <a:spLocks noGrp="1"/>
          </p:cNvSpPr>
          <p:nvPr>
            <p:ph type="title"/>
          </p:nvPr>
        </p:nvSpPr>
        <p:spPr>
          <a:prstGeom prst="rect">
            <a:avLst/>
          </a:prstGeom>
        </p:spPr>
        <p:txBody>
          <a:bodyPr/>
          <a:lstStyle/>
          <a:p>
            <a:r>
              <a:rPr lang="en-US" dirty="0"/>
              <a:t>Summary</a:t>
            </a:r>
          </a:p>
        </p:txBody>
      </p:sp>
    </p:spTree>
    <p:extLst>
      <p:ext uri="{BB962C8B-B14F-4D97-AF65-F5344CB8AC3E}">
        <p14:creationId xmlns:p14="http://schemas.microsoft.com/office/powerpoint/2010/main" val="64084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AD8E52-349C-EF76-69EB-C09C6078A876}"/>
              </a:ext>
            </a:extLst>
          </p:cNvPr>
          <p:cNvSpPr>
            <a:spLocks noGrp="1"/>
          </p:cNvSpPr>
          <p:nvPr>
            <p:ph type="sldNum" sz="quarter" idx="12"/>
          </p:nvPr>
        </p:nvSpPr>
        <p:spPr/>
        <p:txBody>
          <a:bodyPr/>
          <a:lstStyle/>
          <a:p>
            <a:fld id="{9EA0BE3B-158A-4EDF-80DC-E394A0D1600F}" type="slidenum">
              <a:rPr lang="en-US" smtClean="0"/>
              <a:pPr/>
              <a:t>8</a:t>
            </a:fld>
            <a:endParaRPr lang="en-US" dirty="0"/>
          </a:p>
        </p:txBody>
      </p:sp>
      <p:sp>
        <p:nvSpPr>
          <p:cNvPr id="5" name="Title 4">
            <a:extLst>
              <a:ext uri="{FF2B5EF4-FFF2-40B4-BE49-F238E27FC236}">
                <a16:creationId xmlns:a16="http://schemas.microsoft.com/office/drawing/2014/main" id="{5131D202-5F2A-ABF7-24FC-3F311F569FC5}"/>
              </a:ext>
            </a:extLst>
          </p:cNvPr>
          <p:cNvSpPr>
            <a:spLocks noGrp="1"/>
          </p:cNvSpPr>
          <p:nvPr>
            <p:ph type="title"/>
          </p:nvPr>
        </p:nvSpPr>
        <p:spPr/>
        <p:txBody>
          <a:bodyPr/>
          <a:lstStyle/>
          <a:p>
            <a:r>
              <a:rPr lang="en-US" dirty="0"/>
              <a:t>Paper’s conclusion</a:t>
            </a:r>
          </a:p>
        </p:txBody>
      </p:sp>
      <p:sp>
        <p:nvSpPr>
          <p:cNvPr id="6" name="Content Placeholder 5">
            <a:extLst>
              <a:ext uri="{FF2B5EF4-FFF2-40B4-BE49-F238E27FC236}">
                <a16:creationId xmlns:a16="http://schemas.microsoft.com/office/drawing/2014/main" id="{C13206A8-4827-3C20-73A9-4269834EC82C}"/>
              </a:ext>
            </a:extLst>
          </p:cNvPr>
          <p:cNvSpPr>
            <a:spLocks noGrp="1"/>
          </p:cNvSpPr>
          <p:nvPr>
            <p:ph sz="quarter" idx="13"/>
          </p:nvPr>
        </p:nvSpPr>
        <p:spPr/>
        <p:txBody>
          <a:bodyPr/>
          <a:lstStyle/>
          <a:p>
            <a:pPr marL="0" indent="0">
              <a:buNone/>
            </a:pPr>
            <a:endParaRPr lang="en-US" dirty="0"/>
          </a:p>
          <a:p>
            <a:pPr marL="0" indent="0" algn="ctr">
              <a:buNone/>
            </a:pPr>
            <a:r>
              <a:rPr lang="en-US" dirty="0"/>
              <a:t>How much power must we extract from a receiver antenna to effect communications?</a:t>
            </a:r>
          </a:p>
          <a:p>
            <a:pPr marL="0" indent="0">
              <a:buNone/>
            </a:pPr>
            <a:endParaRPr lang="en-US" dirty="0"/>
          </a:p>
          <a:p>
            <a:pPr marL="0" indent="0">
              <a:buNone/>
            </a:pPr>
            <a:r>
              <a:rPr lang="en-US" dirty="0"/>
              <a:t>Answer: </a:t>
            </a:r>
          </a:p>
          <a:p>
            <a:pPr marL="0" indent="0" algn="ctr">
              <a:buNone/>
            </a:pPr>
            <a:endParaRPr lang="en-US" dirty="0"/>
          </a:p>
          <a:p>
            <a:pPr marL="0" indent="0" algn="ctr">
              <a:buNone/>
            </a:pPr>
            <a:r>
              <a:rPr lang="en-US" dirty="0"/>
              <a:t>Subject to the laws of classical physics: </a:t>
            </a:r>
          </a:p>
          <a:p>
            <a:pPr marL="0" indent="0" algn="ctr">
              <a:buNone/>
            </a:pPr>
            <a:r>
              <a:rPr lang="en-US" dirty="0"/>
              <a:t>None! </a:t>
            </a:r>
            <a:br>
              <a:rPr lang="en-US" dirty="0"/>
            </a:br>
            <a:endParaRPr lang="en-US" dirty="0"/>
          </a:p>
        </p:txBody>
      </p:sp>
    </p:spTree>
    <p:extLst>
      <p:ext uri="{BB962C8B-B14F-4D97-AF65-F5344CB8AC3E}">
        <p14:creationId xmlns:p14="http://schemas.microsoft.com/office/powerpoint/2010/main" val="13418406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7BC95-1737-18E8-BA3E-F6DCF6362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A14A2A-6362-7C6E-479A-074492393786}"/>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25968DF6-E956-6417-A71A-995AD404C1A5}"/>
              </a:ext>
            </a:extLst>
          </p:cNvPr>
          <p:cNvSpPr>
            <a:spLocks noGrp="1"/>
          </p:cNvSpPr>
          <p:nvPr>
            <p:ph type="body" sz="quarter" idx="13"/>
          </p:nvPr>
        </p:nvSpPr>
        <p:spPr/>
        <p:txBody>
          <a:bodyPr/>
          <a:lstStyle/>
          <a:p>
            <a:pPr marL="0" indent="0">
              <a:buNone/>
            </a:pPr>
            <a:endParaRPr lang="en-US" dirty="0"/>
          </a:p>
          <a:p>
            <a:pPr marL="0" indent="0">
              <a:buNone/>
            </a:pPr>
            <a:endParaRPr lang="en-US" dirty="0"/>
          </a:p>
          <a:p>
            <a:pPr marL="0" indent="0">
              <a:buNone/>
            </a:pPr>
            <a:endParaRPr lang="en-US" dirty="0"/>
          </a:p>
          <a:p>
            <a:pPr marL="857250" indent="-857250">
              <a:buFont typeface="+mj-lt"/>
              <a:buAutoNum type="romanUcPeriod" startAt="2"/>
            </a:pPr>
            <a:r>
              <a:rPr lang="en-US" sz="3600" dirty="0"/>
              <a:t>Optimization objectives and method</a:t>
            </a:r>
          </a:p>
        </p:txBody>
      </p:sp>
      <p:sp>
        <p:nvSpPr>
          <p:cNvPr id="4" name="Slide Number Placeholder 3">
            <a:extLst>
              <a:ext uri="{FF2B5EF4-FFF2-40B4-BE49-F238E27FC236}">
                <a16:creationId xmlns:a16="http://schemas.microsoft.com/office/drawing/2014/main" id="{6AB071B9-007A-6F68-6C85-5D1800195F1C}"/>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Tree>
    <p:extLst>
      <p:ext uri="{BB962C8B-B14F-4D97-AF65-F5344CB8AC3E}">
        <p14:creationId xmlns:p14="http://schemas.microsoft.com/office/powerpoint/2010/main" val="22086128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BA5FD9F-F079-E7CB-275B-4B407F7320C6}"/>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CE73DABA-0E07-DDEE-86EE-B4224D9C9822}"/>
              </a:ext>
            </a:extLst>
          </p:cNvPr>
          <p:cNvSpPr>
            <a:spLocks noGrp="1"/>
          </p:cNvSpPr>
          <p:nvPr>
            <p:ph type="title"/>
          </p:nvPr>
        </p:nvSpPr>
        <p:spPr/>
        <p:txBody>
          <a:bodyPr/>
          <a:lstStyle/>
          <a:p>
            <a:r>
              <a:rPr lang="en-US" dirty="0"/>
              <a:t>Objectives</a:t>
            </a:r>
            <a:br>
              <a:rPr lang="en-US" dirty="0"/>
            </a:br>
            <a:br>
              <a:rPr lang="en-US" dirty="0"/>
            </a:br>
            <a:endParaRPr lang="en-US" dirty="0"/>
          </a:p>
        </p:txBody>
      </p:sp>
      <p:sp>
        <p:nvSpPr>
          <p:cNvPr id="4" name="Text Placeholder 3">
            <a:extLst>
              <a:ext uri="{FF2B5EF4-FFF2-40B4-BE49-F238E27FC236}">
                <a16:creationId xmlns:a16="http://schemas.microsoft.com/office/drawing/2014/main" id="{D7A5E0C5-7F9C-BDE6-162B-F94E54DA8B01}"/>
              </a:ext>
            </a:extLst>
          </p:cNvPr>
          <p:cNvSpPr>
            <a:spLocks noGrp="1"/>
          </p:cNvSpPr>
          <p:nvPr>
            <p:ph type="body" sz="quarter" idx="13"/>
          </p:nvPr>
        </p:nvSpPr>
        <p:spPr>
          <a:xfrm>
            <a:off x="234949" y="1227550"/>
            <a:ext cx="8762401" cy="4868449"/>
          </a:xfrm>
        </p:spPr>
        <p:txBody>
          <a:bodyPr/>
          <a:lstStyle/>
          <a:p>
            <a:pPr lvl="1">
              <a:buFont typeface="Wingdings" panose="05000000000000000000" pitchFamily="2" charset="2"/>
              <a:buChar char="§"/>
            </a:pPr>
            <a:endParaRPr lang="en-US" dirty="0"/>
          </a:p>
          <a:p>
            <a:pPr lvl="1">
              <a:buFont typeface="Wingdings" panose="05000000000000000000" pitchFamily="2" charset="2"/>
              <a:buChar char="§"/>
            </a:pPr>
            <a:endParaRPr lang="en-US" dirty="0"/>
          </a:p>
          <a:p>
            <a:pPr marL="457200" lvl="1" indent="0">
              <a:buNone/>
            </a:pPr>
            <a:r>
              <a:rPr lang="en-US" dirty="0"/>
              <a:t>Maximize the signal-to-noise ratio (</a:t>
            </a:r>
            <a:r>
              <a:rPr lang="en-US" dirty="0" err="1"/>
              <a:t>SNRo</a:t>
            </a:r>
            <a:r>
              <a:rPr lang="en-US" dirty="0"/>
              <a:t>) relative to the complex antenna impedance (Z</a:t>
            </a:r>
            <a:r>
              <a:rPr lang="en-US" sz="1800" dirty="0"/>
              <a:t>R</a:t>
            </a:r>
            <a:r>
              <a:rPr lang="en-US" dirty="0"/>
              <a:t>) and complex load impedance (Z</a:t>
            </a:r>
            <a:r>
              <a:rPr lang="en-US" sz="2000" dirty="0"/>
              <a:t>L</a:t>
            </a:r>
            <a:r>
              <a:rPr lang="en-US" dirty="0"/>
              <a:t>)</a:t>
            </a:r>
          </a:p>
          <a:p>
            <a:pPr lvl="1">
              <a:buFont typeface="Wingdings" panose="05000000000000000000" pitchFamily="2" charset="2"/>
              <a:buChar char="§"/>
            </a:pPr>
            <a:endParaRPr lang="en-US" dirty="0"/>
          </a:p>
          <a:p>
            <a:pPr lvl="1">
              <a:buFont typeface="Wingdings" panose="05000000000000000000" pitchFamily="2" charset="2"/>
              <a:buChar char="§"/>
            </a:pPr>
            <a:endParaRPr lang="en-US" dirty="0"/>
          </a:p>
          <a:p>
            <a:pPr lvl="1">
              <a:buFont typeface="Wingdings" panose="05000000000000000000" pitchFamily="2" charset="2"/>
              <a:buChar char="§"/>
            </a:pPr>
            <a:endParaRPr lang="en-US" dirty="0"/>
          </a:p>
          <a:p>
            <a:pPr lvl="1">
              <a:buFont typeface="Wingdings" panose="05000000000000000000" pitchFamily="2" charset="2"/>
              <a:buChar char="§"/>
            </a:pPr>
            <a:endParaRPr lang="en-US" dirty="0"/>
          </a:p>
          <a:p>
            <a:pPr lvl="1">
              <a:buFont typeface="Wingdings" panose="05000000000000000000" pitchFamily="2" charset="2"/>
              <a:buChar char="§"/>
            </a:pPr>
            <a:endParaRPr lang="en-US" dirty="0"/>
          </a:p>
        </p:txBody>
      </p:sp>
      <p:pic>
        <p:nvPicPr>
          <p:cNvPr id="6" name="Picture 5">
            <a:extLst>
              <a:ext uri="{FF2B5EF4-FFF2-40B4-BE49-F238E27FC236}">
                <a16:creationId xmlns:a16="http://schemas.microsoft.com/office/drawing/2014/main" id="{C8EDFF9F-8303-A463-7C58-919206F8FDDC}"/>
              </a:ext>
            </a:extLst>
          </p:cNvPr>
          <p:cNvPicPr>
            <a:picLocks noChangeAspect="1"/>
          </p:cNvPicPr>
          <p:nvPr/>
        </p:nvPicPr>
        <p:blipFill>
          <a:blip r:embed="rId2"/>
          <a:stretch>
            <a:fillRect/>
          </a:stretch>
        </p:blipFill>
        <p:spPr>
          <a:xfrm>
            <a:off x="2727733" y="3661774"/>
            <a:ext cx="3688533" cy="967837"/>
          </a:xfrm>
          <a:prstGeom prst="rect">
            <a:avLst/>
          </a:prstGeom>
        </p:spPr>
      </p:pic>
    </p:spTree>
    <p:extLst>
      <p:ext uri="{BB962C8B-B14F-4D97-AF65-F5344CB8AC3E}">
        <p14:creationId xmlns:p14="http://schemas.microsoft.com/office/powerpoint/2010/main" val="644728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73AD7-B60F-98D5-72AF-7313942BEB6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895477-8687-1BB5-8184-DAD8820DEAD9}"/>
              </a:ext>
            </a:extLst>
          </p:cNvPr>
          <p:cNvSpPr>
            <a:spLocks noGrp="1"/>
          </p:cNvSpPr>
          <p:nvPr>
            <p:ph type="sldNum" sz="quarter" idx="12"/>
          </p:nvPr>
        </p:nvSpPr>
        <p:spPr/>
        <p:txBody>
          <a:bodyPr/>
          <a:lstStyle/>
          <a:p>
            <a:fld id="{9EA0BE3B-158A-4EDF-80DC-E394A0D1600F}" type="slidenum">
              <a:rPr lang="en-US" smtClean="0"/>
              <a:pPr/>
              <a:t>11</a:t>
            </a:fld>
            <a:endParaRPr lang="en-US" dirty="0"/>
          </a:p>
        </p:txBody>
      </p:sp>
      <p:sp>
        <p:nvSpPr>
          <p:cNvPr id="3" name="Title 2">
            <a:extLst>
              <a:ext uri="{FF2B5EF4-FFF2-40B4-BE49-F238E27FC236}">
                <a16:creationId xmlns:a16="http://schemas.microsoft.com/office/drawing/2014/main" id="{552D2BCC-BFC3-DD16-FD27-7940DD98B9F8}"/>
              </a:ext>
            </a:extLst>
          </p:cNvPr>
          <p:cNvSpPr>
            <a:spLocks noGrp="1"/>
          </p:cNvSpPr>
          <p:nvPr>
            <p:ph type="title"/>
          </p:nvPr>
        </p:nvSpPr>
        <p:spPr/>
        <p:txBody>
          <a:bodyPr/>
          <a:lstStyle/>
          <a:p>
            <a:r>
              <a:rPr lang="en-US" dirty="0"/>
              <a:t>Objectives</a:t>
            </a:r>
            <a:br>
              <a:rPr lang="en-US" dirty="0"/>
            </a:br>
            <a:br>
              <a:rPr lang="en-US" dirty="0"/>
            </a:br>
            <a:endParaRPr lang="en-US" dirty="0"/>
          </a:p>
        </p:txBody>
      </p:sp>
      <p:sp>
        <p:nvSpPr>
          <p:cNvPr id="4" name="Text Placeholder 3">
            <a:extLst>
              <a:ext uri="{FF2B5EF4-FFF2-40B4-BE49-F238E27FC236}">
                <a16:creationId xmlns:a16="http://schemas.microsoft.com/office/drawing/2014/main" id="{15C10DB5-D58E-D8B1-3B24-159D945817E3}"/>
              </a:ext>
            </a:extLst>
          </p:cNvPr>
          <p:cNvSpPr>
            <a:spLocks noGrp="1"/>
          </p:cNvSpPr>
          <p:nvPr>
            <p:ph type="body" sz="quarter" idx="13"/>
          </p:nvPr>
        </p:nvSpPr>
        <p:spPr/>
        <p:txBody>
          <a:bodyPr/>
          <a:lstStyle/>
          <a:p>
            <a:pPr lvl="1">
              <a:buFont typeface="Wingdings" panose="05000000000000000000" pitchFamily="2" charset="2"/>
              <a:buChar char="§"/>
            </a:pPr>
            <a:endParaRPr lang="en-US" dirty="0"/>
          </a:p>
          <a:p>
            <a:pPr marL="457200" lvl="1" indent="0">
              <a:buNone/>
            </a:pPr>
            <a:endParaRPr lang="en-US" dirty="0"/>
          </a:p>
          <a:p>
            <a:pPr marL="457200" lvl="1" indent="0">
              <a:buNone/>
            </a:pPr>
            <a:endParaRPr lang="en-US" dirty="0"/>
          </a:p>
          <a:p>
            <a:pPr marL="457200" lvl="1" indent="0">
              <a:buNone/>
            </a:pPr>
            <a:r>
              <a:rPr lang="en-US" dirty="0"/>
              <a:t>Maximize Friis gain (G)</a:t>
            </a:r>
          </a:p>
          <a:p>
            <a:pPr lvl="1">
              <a:buFont typeface="Wingdings" panose="05000000000000000000" pitchFamily="2" charset="2"/>
              <a:buChar char="§"/>
            </a:pPr>
            <a:endParaRPr lang="en-US" dirty="0"/>
          </a:p>
          <a:p>
            <a:pPr lvl="1">
              <a:buFont typeface="Wingdings" panose="05000000000000000000" pitchFamily="2" charset="2"/>
              <a:buChar char="§"/>
            </a:pPr>
            <a:endParaRPr lang="en-US" dirty="0"/>
          </a:p>
          <a:p>
            <a:pPr lvl="1">
              <a:buFont typeface="Wingdings" panose="05000000000000000000" pitchFamily="2" charset="2"/>
              <a:buChar char="§"/>
            </a:pPr>
            <a:endParaRPr lang="en-US" dirty="0"/>
          </a:p>
          <a:p>
            <a:pPr lvl="1">
              <a:buFont typeface="Wingdings" panose="05000000000000000000" pitchFamily="2" charset="2"/>
              <a:buChar char="§"/>
            </a:pPr>
            <a:endParaRPr lang="en-US" dirty="0"/>
          </a:p>
          <a:p>
            <a:pPr marL="457200" lvl="1" indent="0">
              <a:buNone/>
            </a:pPr>
            <a:endParaRPr lang="en-US" dirty="0"/>
          </a:p>
          <a:p>
            <a:pPr lvl="1">
              <a:buFont typeface="Wingdings" panose="05000000000000000000" pitchFamily="2" charset="2"/>
              <a:buChar char="§"/>
            </a:pPr>
            <a:endParaRPr lang="en-US" dirty="0"/>
          </a:p>
          <a:p>
            <a:pPr lvl="1">
              <a:buFont typeface="Wingdings" panose="05000000000000000000" pitchFamily="2" charset="2"/>
              <a:buChar char="§"/>
            </a:pPr>
            <a:endParaRPr lang="en-US" dirty="0"/>
          </a:p>
        </p:txBody>
      </p:sp>
      <p:pic>
        <p:nvPicPr>
          <p:cNvPr id="7" name="Picture 6">
            <a:extLst>
              <a:ext uri="{FF2B5EF4-FFF2-40B4-BE49-F238E27FC236}">
                <a16:creationId xmlns:a16="http://schemas.microsoft.com/office/drawing/2014/main" id="{E1FC32F1-7110-175B-4656-41353235CEF8}"/>
              </a:ext>
            </a:extLst>
          </p:cNvPr>
          <p:cNvPicPr>
            <a:picLocks noChangeAspect="1"/>
          </p:cNvPicPr>
          <p:nvPr/>
        </p:nvPicPr>
        <p:blipFill>
          <a:blip r:embed="rId2"/>
          <a:stretch>
            <a:fillRect/>
          </a:stretch>
        </p:blipFill>
        <p:spPr>
          <a:xfrm>
            <a:off x="2855895" y="3523406"/>
            <a:ext cx="3432209" cy="765456"/>
          </a:xfrm>
          <a:prstGeom prst="rect">
            <a:avLst/>
          </a:prstGeom>
        </p:spPr>
      </p:pic>
    </p:spTree>
    <p:extLst>
      <p:ext uri="{BB962C8B-B14F-4D97-AF65-F5344CB8AC3E}">
        <p14:creationId xmlns:p14="http://schemas.microsoft.com/office/powerpoint/2010/main" val="1343587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7F2C3-7321-E034-3A33-D43E78BFD39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DDD6AE-8D60-0B8C-2A2F-5878710E8B18}"/>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3" name="Title 2">
            <a:extLst>
              <a:ext uri="{FF2B5EF4-FFF2-40B4-BE49-F238E27FC236}">
                <a16:creationId xmlns:a16="http://schemas.microsoft.com/office/drawing/2014/main" id="{61767D29-B572-5959-D950-BAD04BCD25DD}"/>
              </a:ext>
            </a:extLst>
          </p:cNvPr>
          <p:cNvSpPr>
            <a:spLocks noGrp="1"/>
          </p:cNvSpPr>
          <p:nvPr>
            <p:ph type="title"/>
          </p:nvPr>
        </p:nvSpPr>
        <p:spPr>
          <a:xfrm>
            <a:off x="234950" y="87240"/>
            <a:ext cx="8673846" cy="451739"/>
          </a:xfrm>
        </p:spPr>
        <p:txBody>
          <a:bodyPr/>
          <a:lstStyle/>
          <a:p>
            <a:r>
              <a:rPr lang="en-US" dirty="0"/>
              <a:t>Objectives</a:t>
            </a:r>
            <a:br>
              <a:rPr lang="en-US" dirty="0"/>
            </a:br>
            <a:br>
              <a:rPr lang="en-US" dirty="0"/>
            </a:br>
            <a:endParaRPr lang="en-US" dirty="0"/>
          </a:p>
        </p:txBody>
      </p:sp>
      <p:sp>
        <p:nvSpPr>
          <p:cNvPr id="4" name="Text Placeholder 3">
            <a:extLst>
              <a:ext uri="{FF2B5EF4-FFF2-40B4-BE49-F238E27FC236}">
                <a16:creationId xmlns:a16="http://schemas.microsoft.com/office/drawing/2014/main" id="{F73E1532-A5D6-8B54-5BE9-FF7381E4BF21}"/>
              </a:ext>
            </a:extLst>
          </p:cNvPr>
          <p:cNvSpPr>
            <a:spLocks noGrp="1"/>
          </p:cNvSpPr>
          <p:nvPr>
            <p:ph type="body" sz="quarter" idx="13"/>
          </p:nvPr>
        </p:nvSpPr>
        <p:spPr/>
        <p:txBody>
          <a:bodyPr/>
          <a:lstStyle/>
          <a:p>
            <a:pPr lvl="1">
              <a:buFont typeface="Wingdings" panose="05000000000000000000" pitchFamily="2" charset="2"/>
              <a:buChar char="§"/>
            </a:pPr>
            <a:endParaRPr lang="en-US" dirty="0"/>
          </a:p>
          <a:p>
            <a:pPr lvl="1">
              <a:buFont typeface="Wingdings" panose="05000000000000000000" pitchFamily="2" charset="2"/>
              <a:buChar char="§"/>
            </a:pPr>
            <a:endParaRPr lang="en-US" dirty="0"/>
          </a:p>
          <a:p>
            <a:pPr marL="457200" lvl="1" indent="0">
              <a:buNone/>
            </a:pPr>
            <a:endParaRPr lang="en-US" dirty="0"/>
          </a:p>
          <a:p>
            <a:pPr marL="457200" lvl="1" indent="0">
              <a:buNone/>
            </a:pPr>
            <a:r>
              <a:rPr lang="en-US" dirty="0"/>
              <a:t>Maximize the signal-to-noise ratio (</a:t>
            </a:r>
            <a:r>
              <a:rPr lang="en-US" dirty="0" err="1"/>
              <a:t>SNRo</a:t>
            </a:r>
            <a:r>
              <a:rPr lang="en-US" dirty="0"/>
              <a:t>) relative to the source resistance (R</a:t>
            </a:r>
            <a:r>
              <a:rPr lang="en-US" sz="2000" dirty="0"/>
              <a:t>S</a:t>
            </a:r>
            <a:r>
              <a:rPr lang="en-US" dirty="0"/>
              <a:t>) and the load resistance (R</a:t>
            </a:r>
            <a:r>
              <a:rPr lang="en-US" sz="2000" dirty="0"/>
              <a:t>L</a:t>
            </a:r>
            <a:r>
              <a:rPr lang="en-US" dirty="0"/>
              <a:t>)</a:t>
            </a:r>
          </a:p>
          <a:p>
            <a:pPr lvl="1">
              <a:buFont typeface="Wingdings" panose="05000000000000000000" pitchFamily="2" charset="2"/>
              <a:buChar char="§"/>
            </a:pPr>
            <a:endParaRPr lang="en-US" dirty="0"/>
          </a:p>
        </p:txBody>
      </p:sp>
      <p:pic>
        <p:nvPicPr>
          <p:cNvPr id="12" name="Picture 11">
            <a:extLst>
              <a:ext uri="{FF2B5EF4-FFF2-40B4-BE49-F238E27FC236}">
                <a16:creationId xmlns:a16="http://schemas.microsoft.com/office/drawing/2014/main" id="{D8A8F64D-C22E-D47D-A90A-9439B5BC2585}"/>
              </a:ext>
            </a:extLst>
          </p:cNvPr>
          <p:cNvPicPr>
            <a:picLocks noChangeAspect="1"/>
          </p:cNvPicPr>
          <p:nvPr/>
        </p:nvPicPr>
        <p:blipFill>
          <a:blip r:embed="rId2"/>
          <a:stretch>
            <a:fillRect/>
          </a:stretch>
        </p:blipFill>
        <p:spPr>
          <a:xfrm>
            <a:off x="2893872" y="3661774"/>
            <a:ext cx="3356002" cy="1040711"/>
          </a:xfrm>
          <a:prstGeom prst="rect">
            <a:avLst/>
          </a:prstGeom>
        </p:spPr>
      </p:pic>
    </p:spTree>
    <p:extLst>
      <p:ext uri="{BB962C8B-B14F-4D97-AF65-F5344CB8AC3E}">
        <p14:creationId xmlns:p14="http://schemas.microsoft.com/office/powerpoint/2010/main" val="2743228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FFF79-CB3C-2916-7540-9E78476457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1CF642-5F45-1AFF-2BFB-5D302DAF3258}"/>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3" name="Title 2">
            <a:extLst>
              <a:ext uri="{FF2B5EF4-FFF2-40B4-BE49-F238E27FC236}">
                <a16:creationId xmlns:a16="http://schemas.microsoft.com/office/drawing/2014/main" id="{C40448FD-E3DA-8D2D-AAFE-228BC16716D3}"/>
              </a:ext>
            </a:extLst>
          </p:cNvPr>
          <p:cNvSpPr>
            <a:spLocks noGrp="1"/>
          </p:cNvSpPr>
          <p:nvPr>
            <p:ph type="title"/>
          </p:nvPr>
        </p:nvSpPr>
        <p:spPr>
          <a:xfrm>
            <a:off x="234950" y="87240"/>
            <a:ext cx="8673846" cy="451739"/>
          </a:xfrm>
        </p:spPr>
        <p:txBody>
          <a:bodyPr/>
          <a:lstStyle/>
          <a:p>
            <a:r>
              <a:rPr lang="en-US" dirty="0"/>
              <a:t>Objectives</a:t>
            </a:r>
            <a:br>
              <a:rPr lang="en-US" dirty="0"/>
            </a:br>
            <a:br>
              <a:rPr lang="en-US" dirty="0"/>
            </a:br>
            <a:endParaRPr lang="en-US" dirty="0"/>
          </a:p>
        </p:txBody>
      </p:sp>
      <p:sp>
        <p:nvSpPr>
          <p:cNvPr id="4" name="Text Placeholder 3">
            <a:extLst>
              <a:ext uri="{FF2B5EF4-FFF2-40B4-BE49-F238E27FC236}">
                <a16:creationId xmlns:a16="http://schemas.microsoft.com/office/drawing/2014/main" id="{5BE8F07D-280A-10D5-D8A5-AF8603524454}"/>
              </a:ext>
            </a:extLst>
          </p:cNvPr>
          <p:cNvSpPr>
            <a:spLocks noGrp="1"/>
          </p:cNvSpPr>
          <p:nvPr>
            <p:ph type="body" sz="quarter" idx="13"/>
          </p:nvPr>
        </p:nvSpPr>
        <p:spPr/>
        <p:txBody>
          <a:bodyPr/>
          <a:lstStyle/>
          <a:p>
            <a:pPr lvl="1">
              <a:buFont typeface="Wingdings" panose="05000000000000000000" pitchFamily="2" charset="2"/>
              <a:buChar char="§"/>
            </a:pPr>
            <a:endParaRPr lang="en-US" dirty="0"/>
          </a:p>
          <a:p>
            <a:pPr lvl="1">
              <a:buFont typeface="Wingdings" panose="05000000000000000000" pitchFamily="2" charset="2"/>
              <a:buChar char="§"/>
            </a:pPr>
            <a:endParaRPr lang="en-US" dirty="0"/>
          </a:p>
          <a:p>
            <a:pPr marL="457200" lvl="1" indent="0">
              <a:buNone/>
            </a:pPr>
            <a:endParaRPr lang="en-US" dirty="0"/>
          </a:p>
          <a:p>
            <a:pPr marL="457200" lvl="1" indent="0">
              <a:buNone/>
            </a:pPr>
            <a:r>
              <a:rPr lang="en-US" dirty="0"/>
              <a:t>Maximize output signal voltage (</a:t>
            </a:r>
            <a:r>
              <a:rPr lang="en-US" dirty="0" err="1"/>
              <a:t>Vso</a:t>
            </a:r>
            <a:r>
              <a:rPr lang="en-US" dirty="0"/>
              <a:t>) relative to the source resistance (Rs) and the load resistance (R</a:t>
            </a:r>
            <a:r>
              <a:rPr lang="en-US" sz="2000" dirty="0"/>
              <a:t>L</a:t>
            </a:r>
            <a:r>
              <a:rPr lang="en-US" dirty="0"/>
              <a:t>)</a:t>
            </a:r>
          </a:p>
          <a:p>
            <a:pPr lvl="1">
              <a:buFont typeface="Wingdings" panose="05000000000000000000" pitchFamily="2" charset="2"/>
              <a:buChar char="§"/>
            </a:pPr>
            <a:endParaRPr lang="en-US" dirty="0"/>
          </a:p>
        </p:txBody>
      </p:sp>
      <p:pic>
        <p:nvPicPr>
          <p:cNvPr id="6" name="Picture 5">
            <a:extLst>
              <a:ext uri="{FF2B5EF4-FFF2-40B4-BE49-F238E27FC236}">
                <a16:creationId xmlns:a16="http://schemas.microsoft.com/office/drawing/2014/main" id="{9D9AAA76-D282-70FE-241C-83F2A2AA9EC2}"/>
              </a:ext>
            </a:extLst>
          </p:cNvPr>
          <p:cNvPicPr>
            <a:picLocks noChangeAspect="1"/>
          </p:cNvPicPr>
          <p:nvPr/>
        </p:nvPicPr>
        <p:blipFill>
          <a:blip r:embed="rId2"/>
          <a:stretch>
            <a:fillRect/>
          </a:stretch>
        </p:blipFill>
        <p:spPr>
          <a:xfrm>
            <a:off x="3478904" y="3839026"/>
            <a:ext cx="2186191" cy="919587"/>
          </a:xfrm>
          <a:prstGeom prst="rect">
            <a:avLst/>
          </a:prstGeom>
        </p:spPr>
      </p:pic>
    </p:spTree>
    <p:extLst>
      <p:ext uri="{BB962C8B-B14F-4D97-AF65-F5344CB8AC3E}">
        <p14:creationId xmlns:p14="http://schemas.microsoft.com/office/powerpoint/2010/main" val="3108879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1A100-4FDD-668F-501A-3E8422A9DFC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5DCB89-B841-31BC-2892-18AF32B0C8A9}"/>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3" name="Title 2">
            <a:extLst>
              <a:ext uri="{FF2B5EF4-FFF2-40B4-BE49-F238E27FC236}">
                <a16:creationId xmlns:a16="http://schemas.microsoft.com/office/drawing/2014/main" id="{FDB3E2CD-4DB5-534B-0CAD-2E92054BA461}"/>
              </a:ext>
            </a:extLst>
          </p:cNvPr>
          <p:cNvSpPr>
            <a:spLocks noGrp="1"/>
          </p:cNvSpPr>
          <p:nvPr>
            <p:ph type="title"/>
          </p:nvPr>
        </p:nvSpPr>
        <p:spPr>
          <a:xfrm>
            <a:off x="234950" y="87240"/>
            <a:ext cx="8673846" cy="451739"/>
          </a:xfrm>
        </p:spPr>
        <p:txBody>
          <a:bodyPr/>
          <a:lstStyle/>
          <a:p>
            <a:r>
              <a:rPr lang="en-US" dirty="0"/>
              <a:t>Objectives</a:t>
            </a:r>
            <a:br>
              <a:rPr lang="en-US" dirty="0"/>
            </a:br>
            <a:br>
              <a:rPr lang="en-US" dirty="0"/>
            </a:br>
            <a:endParaRPr lang="en-US" dirty="0"/>
          </a:p>
        </p:txBody>
      </p:sp>
      <p:sp>
        <p:nvSpPr>
          <p:cNvPr id="4" name="Text Placeholder 3">
            <a:extLst>
              <a:ext uri="{FF2B5EF4-FFF2-40B4-BE49-F238E27FC236}">
                <a16:creationId xmlns:a16="http://schemas.microsoft.com/office/drawing/2014/main" id="{A204CB9D-1408-74E2-C20F-984610FE8B31}"/>
              </a:ext>
            </a:extLst>
          </p:cNvPr>
          <p:cNvSpPr>
            <a:spLocks noGrp="1"/>
          </p:cNvSpPr>
          <p:nvPr>
            <p:ph type="body" sz="quarter" idx="13"/>
          </p:nvPr>
        </p:nvSpPr>
        <p:spPr/>
        <p:txBody>
          <a:bodyPr/>
          <a:lstStyle/>
          <a:p>
            <a:pPr lvl="1">
              <a:buFont typeface="Wingdings" panose="05000000000000000000" pitchFamily="2" charset="2"/>
              <a:buChar char="§"/>
            </a:pPr>
            <a:endParaRPr lang="en-US" dirty="0"/>
          </a:p>
          <a:p>
            <a:pPr lvl="1">
              <a:buFont typeface="Wingdings" panose="05000000000000000000" pitchFamily="2" charset="2"/>
              <a:buChar char="§"/>
            </a:pPr>
            <a:endParaRPr lang="en-US" dirty="0"/>
          </a:p>
          <a:p>
            <a:pPr marL="457200" lvl="1" indent="0">
              <a:buNone/>
            </a:pPr>
            <a:endParaRPr lang="en-US" dirty="0"/>
          </a:p>
          <a:p>
            <a:pPr marL="457200" lvl="1" indent="0">
              <a:buNone/>
            </a:pPr>
            <a:r>
              <a:rPr lang="en-US" dirty="0"/>
              <a:t>Maximize output signal power (</a:t>
            </a:r>
            <a:r>
              <a:rPr lang="en-US" dirty="0" err="1"/>
              <a:t>Pso</a:t>
            </a:r>
            <a:r>
              <a:rPr lang="en-US" dirty="0"/>
              <a:t>) relative to the source resistance (Rs) and the load resistance (R</a:t>
            </a:r>
            <a:r>
              <a:rPr lang="en-US" sz="2000" dirty="0"/>
              <a:t>L</a:t>
            </a:r>
            <a:r>
              <a:rPr lang="en-US" dirty="0"/>
              <a:t>)</a:t>
            </a:r>
          </a:p>
          <a:p>
            <a:pPr lvl="1">
              <a:buFont typeface="Wingdings" panose="05000000000000000000" pitchFamily="2" charset="2"/>
              <a:buChar char="§"/>
            </a:pPr>
            <a:endParaRPr lang="en-US" dirty="0"/>
          </a:p>
        </p:txBody>
      </p:sp>
      <p:pic>
        <p:nvPicPr>
          <p:cNvPr id="7" name="Picture 6">
            <a:extLst>
              <a:ext uri="{FF2B5EF4-FFF2-40B4-BE49-F238E27FC236}">
                <a16:creationId xmlns:a16="http://schemas.microsoft.com/office/drawing/2014/main" id="{422468D7-9AC0-2552-CD32-EB697D97AC5D}"/>
              </a:ext>
            </a:extLst>
          </p:cNvPr>
          <p:cNvPicPr>
            <a:picLocks noChangeAspect="1"/>
          </p:cNvPicPr>
          <p:nvPr/>
        </p:nvPicPr>
        <p:blipFill>
          <a:blip r:embed="rId2"/>
          <a:stretch>
            <a:fillRect/>
          </a:stretch>
        </p:blipFill>
        <p:spPr>
          <a:xfrm>
            <a:off x="3106678" y="4024660"/>
            <a:ext cx="2930644" cy="799267"/>
          </a:xfrm>
          <a:prstGeom prst="rect">
            <a:avLst/>
          </a:prstGeom>
        </p:spPr>
      </p:pic>
    </p:spTree>
    <p:extLst>
      <p:ext uri="{BB962C8B-B14F-4D97-AF65-F5344CB8AC3E}">
        <p14:creationId xmlns:p14="http://schemas.microsoft.com/office/powerpoint/2010/main" val="1172413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00772-AB5F-994E-9010-3B880A21E15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9A1C6E-C693-75E7-D23E-97D41B927952}"/>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3" name="Title 2">
            <a:extLst>
              <a:ext uri="{FF2B5EF4-FFF2-40B4-BE49-F238E27FC236}">
                <a16:creationId xmlns:a16="http://schemas.microsoft.com/office/drawing/2014/main" id="{3B542068-B111-8F94-C632-259345CEFC02}"/>
              </a:ext>
            </a:extLst>
          </p:cNvPr>
          <p:cNvSpPr>
            <a:spLocks noGrp="1"/>
          </p:cNvSpPr>
          <p:nvPr>
            <p:ph type="title"/>
          </p:nvPr>
        </p:nvSpPr>
        <p:spPr>
          <a:xfrm>
            <a:off x="234950" y="87240"/>
            <a:ext cx="8673846" cy="451739"/>
          </a:xfrm>
        </p:spPr>
        <p:txBody>
          <a:bodyPr/>
          <a:lstStyle/>
          <a:p>
            <a:r>
              <a:rPr lang="en-US" dirty="0"/>
              <a:t>Objectives</a:t>
            </a:r>
            <a:br>
              <a:rPr lang="en-US" dirty="0"/>
            </a:br>
            <a:br>
              <a:rPr lang="en-US" dirty="0"/>
            </a:br>
            <a:endParaRPr lang="en-US" dirty="0"/>
          </a:p>
        </p:txBody>
      </p:sp>
      <p:sp>
        <p:nvSpPr>
          <p:cNvPr id="4" name="Text Placeholder 3">
            <a:extLst>
              <a:ext uri="{FF2B5EF4-FFF2-40B4-BE49-F238E27FC236}">
                <a16:creationId xmlns:a16="http://schemas.microsoft.com/office/drawing/2014/main" id="{BC1BEC5B-DAF5-4492-34E7-0B4C10B2D258}"/>
              </a:ext>
            </a:extLst>
          </p:cNvPr>
          <p:cNvSpPr>
            <a:spLocks noGrp="1"/>
          </p:cNvSpPr>
          <p:nvPr>
            <p:ph type="body" sz="quarter" idx="13"/>
          </p:nvPr>
        </p:nvSpPr>
        <p:spPr/>
        <p:txBody>
          <a:bodyPr/>
          <a:lstStyle/>
          <a:p>
            <a:pPr lvl="1">
              <a:buFont typeface="Wingdings" panose="05000000000000000000" pitchFamily="2" charset="2"/>
              <a:buChar char="§"/>
            </a:pPr>
            <a:endParaRPr lang="en-US" dirty="0"/>
          </a:p>
          <a:p>
            <a:pPr lvl="1">
              <a:buFont typeface="Wingdings" panose="05000000000000000000" pitchFamily="2" charset="2"/>
              <a:buChar char="§"/>
            </a:pPr>
            <a:endParaRPr lang="en-US" dirty="0"/>
          </a:p>
          <a:p>
            <a:pPr marL="457200" lvl="1" indent="0">
              <a:buNone/>
            </a:pPr>
            <a:endParaRPr lang="en-US" dirty="0"/>
          </a:p>
          <a:p>
            <a:pPr marL="457200" lvl="1" indent="0">
              <a:buNone/>
            </a:pPr>
            <a:r>
              <a:rPr lang="en-US" dirty="0"/>
              <a:t>Minimize the output signal’s noise power (</a:t>
            </a:r>
            <a:r>
              <a:rPr lang="en-US" dirty="0" err="1"/>
              <a:t>Pno</a:t>
            </a:r>
            <a:r>
              <a:rPr lang="en-US" dirty="0"/>
              <a:t>) relative to the source resistance (Rs) and the load resistance (R</a:t>
            </a:r>
            <a:r>
              <a:rPr lang="en-US" sz="2000" dirty="0"/>
              <a:t>L</a:t>
            </a:r>
            <a:r>
              <a:rPr lang="en-US" dirty="0"/>
              <a:t>)</a:t>
            </a:r>
          </a:p>
        </p:txBody>
      </p:sp>
      <p:pic>
        <p:nvPicPr>
          <p:cNvPr id="6" name="Picture 5">
            <a:extLst>
              <a:ext uri="{FF2B5EF4-FFF2-40B4-BE49-F238E27FC236}">
                <a16:creationId xmlns:a16="http://schemas.microsoft.com/office/drawing/2014/main" id="{B543DA25-FDB2-4D5E-E72D-D803905B326C}"/>
              </a:ext>
            </a:extLst>
          </p:cNvPr>
          <p:cNvPicPr>
            <a:picLocks noChangeAspect="1"/>
          </p:cNvPicPr>
          <p:nvPr/>
        </p:nvPicPr>
        <p:blipFill>
          <a:blip r:embed="rId2"/>
          <a:stretch>
            <a:fillRect/>
          </a:stretch>
        </p:blipFill>
        <p:spPr>
          <a:xfrm>
            <a:off x="2399360" y="4001822"/>
            <a:ext cx="4345025" cy="756791"/>
          </a:xfrm>
          <a:prstGeom prst="rect">
            <a:avLst/>
          </a:prstGeom>
        </p:spPr>
      </p:pic>
    </p:spTree>
    <p:extLst>
      <p:ext uri="{BB962C8B-B14F-4D97-AF65-F5344CB8AC3E}">
        <p14:creationId xmlns:p14="http://schemas.microsoft.com/office/powerpoint/2010/main" val="255908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ACEE3-8AEA-04E9-E931-35B04F30B40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82E04C-95D2-549E-240C-FEBE9403CA4E}"/>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3" name="Title 2">
            <a:extLst>
              <a:ext uri="{FF2B5EF4-FFF2-40B4-BE49-F238E27FC236}">
                <a16:creationId xmlns:a16="http://schemas.microsoft.com/office/drawing/2014/main" id="{D5B912E9-B282-5E7B-9AB5-7896B935CC84}"/>
              </a:ext>
            </a:extLst>
          </p:cNvPr>
          <p:cNvSpPr>
            <a:spLocks noGrp="1"/>
          </p:cNvSpPr>
          <p:nvPr>
            <p:ph type="title"/>
          </p:nvPr>
        </p:nvSpPr>
        <p:spPr>
          <a:xfrm>
            <a:off x="234950" y="87240"/>
            <a:ext cx="8673846" cy="451739"/>
          </a:xfrm>
        </p:spPr>
        <p:txBody>
          <a:bodyPr/>
          <a:lstStyle/>
          <a:p>
            <a:r>
              <a:rPr lang="en-US" dirty="0"/>
              <a:t>Objectives</a:t>
            </a:r>
            <a:br>
              <a:rPr lang="en-US" dirty="0"/>
            </a:br>
            <a:br>
              <a:rPr lang="en-US" dirty="0"/>
            </a:br>
            <a:endParaRPr lang="en-US" dirty="0"/>
          </a:p>
        </p:txBody>
      </p:sp>
      <p:sp>
        <p:nvSpPr>
          <p:cNvPr id="4" name="Text Placeholder 3">
            <a:extLst>
              <a:ext uri="{FF2B5EF4-FFF2-40B4-BE49-F238E27FC236}">
                <a16:creationId xmlns:a16="http://schemas.microsoft.com/office/drawing/2014/main" id="{7B8111E3-BB82-1447-EB67-0652A1BEDAB1}"/>
              </a:ext>
            </a:extLst>
          </p:cNvPr>
          <p:cNvSpPr>
            <a:spLocks noGrp="1"/>
          </p:cNvSpPr>
          <p:nvPr>
            <p:ph type="body" sz="quarter" idx="13"/>
          </p:nvPr>
        </p:nvSpPr>
        <p:spPr/>
        <p:txBody>
          <a:bodyPr/>
          <a:lstStyle/>
          <a:p>
            <a:pPr marL="457200" lvl="1" indent="0">
              <a:buNone/>
            </a:pPr>
            <a:endParaRPr lang="en-US" dirty="0"/>
          </a:p>
          <a:p>
            <a:pPr lvl="1">
              <a:buFont typeface="Wingdings" panose="05000000000000000000" pitchFamily="2" charset="2"/>
              <a:buChar char="§"/>
            </a:pPr>
            <a:endParaRPr lang="en-US" dirty="0"/>
          </a:p>
          <a:p>
            <a:pPr lvl="1">
              <a:buFont typeface="Wingdings" panose="05000000000000000000" pitchFamily="2" charset="2"/>
              <a:buChar char="§"/>
            </a:pPr>
            <a:r>
              <a:rPr lang="en-US" dirty="0" err="1"/>
              <a:t>SNRo</a:t>
            </a:r>
            <a:r>
              <a:rPr lang="en-US" dirty="0"/>
              <a:t>: retain signal integrity for decoding</a:t>
            </a:r>
          </a:p>
          <a:p>
            <a:pPr marL="457200" lvl="1" indent="0">
              <a:buNone/>
            </a:pPr>
            <a:endParaRPr lang="en-US" dirty="0"/>
          </a:p>
          <a:p>
            <a:pPr lvl="1">
              <a:buFont typeface="Wingdings" panose="05000000000000000000" pitchFamily="2" charset="2"/>
              <a:buChar char="§"/>
            </a:pPr>
            <a:r>
              <a:rPr lang="en-US" dirty="0"/>
              <a:t>G: maximize signal strength</a:t>
            </a:r>
          </a:p>
          <a:p>
            <a:pPr lvl="1">
              <a:buFont typeface="Wingdings" panose="05000000000000000000" pitchFamily="2" charset="2"/>
              <a:buChar char="§"/>
            </a:pPr>
            <a:endParaRPr lang="en-US" dirty="0"/>
          </a:p>
          <a:p>
            <a:pPr lvl="1">
              <a:buFont typeface="Wingdings" panose="05000000000000000000" pitchFamily="2" charset="2"/>
              <a:buChar char="§"/>
            </a:pPr>
            <a:r>
              <a:rPr lang="en-US" dirty="0" err="1"/>
              <a:t>Vso</a:t>
            </a:r>
            <a:r>
              <a:rPr lang="en-US" dirty="0"/>
              <a:t>, </a:t>
            </a:r>
            <a:r>
              <a:rPr lang="en-US" dirty="0" err="1"/>
              <a:t>Pso</a:t>
            </a:r>
            <a:r>
              <a:rPr lang="en-US" dirty="0"/>
              <a:t>: obtain the strongest output signal</a:t>
            </a:r>
          </a:p>
          <a:p>
            <a:pPr marL="457200" lvl="1" indent="0">
              <a:buNone/>
            </a:pPr>
            <a:endParaRPr lang="en-US" dirty="0"/>
          </a:p>
          <a:p>
            <a:pPr lvl="1">
              <a:buFont typeface="Wingdings" panose="05000000000000000000" pitchFamily="2" charset="2"/>
              <a:buChar char="§"/>
            </a:pPr>
            <a:r>
              <a:rPr lang="en-US" dirty="0" err="1"/>
              <a:t>Pno</a:t>
            </a:r>
            <a:r>
              <a:rPr lang="en-US" dirty="0"/>
              <a:t>: retain signal integrity</a:t>
            </a:r>
          </a:p>
          <a:p>
            <a:pPr marL="457200" lvl="1" indent="0">
              <a:buNone/>
            </a:pPr>
            <a:endParaRPr lang="en-US" dirty="0"/>
          </a:p>
          <a:p>
            <a:pPr marL="457200" lvl="1" indent="0">
              <a:buNone/>
            </a:pPr>
            <a:endParaRPr lang="en-US" dirty="0"/>
          </a:p>
        </p:txBody>
      </p:sp>
    </p:spTree>
    <p:extLst>
      <p:ext uri="{BB962C8B-B14F-4D97-AF65-F5344CB8AC3E}">
        <p14:creationId xmlns:p14="http://schemas.microsoft.com/office/powerpoint/2010/main" val="3588978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9E017-E1A9-2855-8125-EECE21D87AD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905C02-8341-FCF4-FD9E-546962D2F2E1}"/>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3" name="Title 2">
            <a:extLst>
              <a:ext uri="{FF2B5EF4-FFF2-40B4-BE49-F238E27FC236}">
                <a16:creationId xmlns:a16="http://schemas.microsoft.com/office/drawing/2014/main" id="{F471B0A6-27F2-11FB-7498-6E67CA8FA54C}"/>
              </a:ext>
            </a:extLst>
          </p:cNvPr>
          <p:cNvSpPr>
            <a:spLocks noGrp="1"/>
          </p:cNvSpPr>
          <p:nvPr>
            <p:ph type="title"/>
          </p:nvPr>
        </p:nvSpPr>
        <p:spPr>
          <a:xfrm>
            <a:off x="234950" y="87240"/>
            <a:ext cx="8673846" cy="451739"/>
          </a:xfrm>
        </p:spPr>
        <p:txBody>
          <a:bodyPr/>
          <a:lstStyle/>
          <a:p>
            <a:r>
              <a:rPr lang="en-US" dirty="0"/>
              <a:t>Optimization method</a:t>
            </a:r>
            <a:br>
              <a:rPr lang="en-US" dirty="0"/>
            </a:br>
            <a:br>
              <a:rPr lang="en-US" dirty="0"/>
            </a:br>
            <a:endParaRPr lang="en-US"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178832FF-500E-B082-EBE8-0D3D53A02CDB}"/>
                  </a:ext>
                </a:extLst>
              </p:cNvPr>
              <p:cNvSpPr>
                <a:spLocks noGrp="1"/>
              </p:cNvSpPr>
              <p:nvPr>
                <p:ph type="body" sz="quarter" idx="13"/>
              </p:nvPr>
            </p:nvSpPr>
            <p:spPr/>
            <p:txBody>
              <a:bodyPr/>
              <a:lstStyle/>
              <a:p>
                <a:pPr marL="457200" lvl="1" indent="0">
                  <a:buNone/>
                </a:pPr>
                <a:r>
                  <a:rPr lang="en-US" dirty="0"/>
                  <a:t>Gradient Descent: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𝑔</m:t>
                        </m:r>
                      </m:e>
                      <m:sub>
                        <m:r>
                          <a:rPr lang="en-US" b="0" i="1" dirty="0" smtClean="0">
                            <a:latin typeface="Cambria Math" panose="02040503050406030204" pitchFamily="18" charset="0"/>
                          </a:rPr>
                          <m:t>𝑡</m:t>
                        </m:r>
                      </m:sub>
                    </m:sSub>
                    <m:r>
                      <a:rPr lang="en-US" i="1" dirty="0">
                        <a:latin typeface="Cambria Math" panose="02040503050406030204" pitchFamily="18" charset="0"/>
                      </a:rPr>
                      <m:t> = </m:t>
                    </m:r>
                    <m:sSub>
                      <m:sSubPr>
                        <m:ctrlPr>
                          <a:rPr lang="en-US" b="0" i="1" dirty="0" smtClean="0">
                            <a:latin typeface="Cambria Math" panose="02040503050406030204" pitchFamily="18" charset="0"/>
                          </a:rPr>
                        </m:ctrlPr>
                      </m:sSubPr>
                      <m:e>
                        <m:r>
                          <m:rPr>
                            <m:sty m:val="p"/>
                          </m:rPr>
                          <a:rPr lang="en-US" i="0" dirty="0">
                            <a:latin typeface="Cambria Math" panose="02040503050406030204" pitchFamily="18" charset="0"/>
                          </a:rPr>
                          <m:t>∇</m:t>
                        </m:r>
                      </m:e>
                      <m:sub>
                        <m:r>
                          <a:rPr lang="en-US" b="0" i="1" dirty="0" smtClean="0">
                            <a:latin typeface="Cambria Math" panose="02040503050406030204" pitchFamily="18" charset="0"/>
                          </a:rPr>
                          <m:t>𝜃</m:t>
                        </m:r>
                      </m:sub>
                    </m:sSub>
                    <m:r>
                      <a:rPr lang="en-US" i="1" dirty="0">
                        <a:latin typeface="Cambria Math" panose="02040503050406030204" pitchFamily="18" charset="0"/>
                      </a:rPr>
                      <m:t>​</m:t>
                    </m:r>
                    <m:r>
                      <a:rPr lang="en-US" i="1" dirty="0">
                        <a:latin typeface="Cambria Math" panose="02040503050406030204" pitchFamily="18" charset="0"/>
                      </a:rPr>
                      <m:t>𝑓</m:t>
                    </m:r>
                    <m:r>
                      <a:rPr lang="en-US" i="1" dirty="0">
                        <a:latin typeface="Cambria Math" panose="02040503050406030204" pitchFamily="18" charset="0"/>
                      </a:rPr>
                      <m:t>(</m:t>
                    </m:r>
                    <m:sSub>
                      <m:sSubPr>
                        <m:ctrlPr>
                          <a:rPr lang="en-US" b="0" i="1" dirty="0" smtClean="0">
                            <a:latin typeface="Cambria Math" panose="02040503050406030204" pitchFamily="18" charset="0"/>
                          </a:rPr>
                        </m:ctrlPr>
                      </m:sSubPr>
                      <m:e>
                        <m:r>
                          <a:rPr lang="en-US" i="1" dirty="0" err="1">
                            <a:latin typeface="Cambria Math" panose="02040503050406030204" pitchFamily="18" charset="0"/>
                          </a:rPr>
                          <m:t>𝜃</m:t>
                        </m:r>
                      </m:e>
                      <m:sub>
                        <m:r>
                          <a:rPr lang="en-US" b="0" i="1" dirty="0" smtClean="0">
                            <a:latin typeface="Cambria Math" panose="02040503050406030204" pitchFamily="18" charset="0"/>
                          </a:rPr>
                          <m:t>𝑡</m:t>
                        </m:r>
                      </m:sub>
                    </m:sSub>
                    <m:r>
                      <a:rPr lang="en-US" sz="1600" i="1" dirty="0">
                        <a:latin typeface="Cambria Math" panose="02040503050406030204" pitchFamily="18" charset="0"/>
                      </a:rPr>
                      <m:t> </m:t>
                    </m:r>
                    <m:r>
                      <a:rPr lang="en-US" i="1" dirty="0">
                        <a:latin typeface="Cambria Math" panose="02040503050406030204" pitchFamily="18" charset="0"/>
                      </a:rPr>
                      <m:t>− 1​)</m:t>
                    </m:r>
                  </m:oMath>
                </a14:m>
                <a:endParaRPr lang="en-US" dirty="0"/>
              </a:p>
              <a:p>
                <a:pPr marL="457200" lvl="1" indent="0">
                  <a:buNone/>
                </a:pPr>
                <a:endParaRPr lang="en-US" dirty="0"/>
              </a:p>
              <a:p>
                <a:pPr marL="457200" lvl="1" indent="0">
                  <a:buNone/>
                </a:pPr>
                <a:endParaRPr lang="en-US" dirty="0"/>
              </a:p>
            </p:txBody>
          </p:sp>
        </mc:Choice>
        <mc:Fallback xmlns="">
          <p:sp>
            <p:nvSpPr>
              <p:cNvPr id="4" name="Text Placeholder 3">
                <a:extLst>
                  <a:ext uri="{FF2B5EF4-FFF2-40B4-BE49-F238E27FC236}">
                    <a16:creationId xmlns:a16="http://schemas.microsoft.com/office/drawing/2014/main" id="{178832FF-500E-B082-EBE8-0D3D53A02CDB}"/>
                  </a:ext>
                </a:extLst>
              </p:cNvPr>
              <p:cNvSpPr>
                <a:spLocks noGrp="1" noRot="1" noChangeAspect="1" noMove="1" noResize="1" noEditPoints="1" noAdjustHandles="1" noChangeArrowheads="1" noChangeShapeType="1" noTextEdit="1"/>
              </p:cNvSpPr>
              <p:nvPr>
                <p:ph type="body" sz="quarter" idx="13"/>
              </p:nvPr>
            </p:nvSpPr>
            <p:spPr>
              <a:blipFill>
                <a:blip r:embed="rId2"/>
                <a:stretch>
                  <a:fillRect t="-1752"/>
                </a:stretch>
              </a:blipFill>
            </p:spPr>
            <p:txBody>
              <a:bodyPr/>
              <a:lstStyle/>
              <a:p>
                <a:r>
                  <a:rPr lang="en-US">
                    <a:noFill/>
                  </a:rPr>
                  <a:t> </a:t>
                </a:r>
              </a:p>
            </p:txBody>
          </p:sp>
        </mc:Fallback>
      </mc:AlternateContent>
      <p:pic>
        <p:nvPicPr>
          <p:cNvPr id="5" name="Picture 4" descr="File:Gradient descent.gif">
            <a:extLst>
              <a:ext uri="{FF2B5EF4-FFF2-40B4-BE49-F238E27FC236}">
                <a16:creationId xmlns:a16="http://schemas.microsoft.com/office/drawing/2014/main" id="{0FEF20FC-23AA-5A40-5FB9-17AAA2F2C84F}"/>
              </a:ext>
            </a:extLst>
          </p:cNvPr>
          <p:cNvPicPr>
            <a:picLocks noChangeAspect="1"/>
          </p:cNvPicPr>
          <p:nvPr/>
        </p:nvPicPr>
        <p:blipFill>
          <a:blip r:embed="rId3"/>
          <a:stretch>
            <a:fillRect/>
          </a:stretch>
        </p:blipFill>
        <p:spPr>
          <a:xfrm>
            <a:off x="1864696" y="1704356"/>
            <a:ext cx="5414354" cy="4391643"/>
          </a:xfrm>
          <a:prstGeom prst="rect">
            <a:avLst/>
          </a:prstGeom>
        </p:spPr>
      </p:pic>
    </p:spTree>
    <p:extLst>
      <p:ext uri="{BB962C8B-B14F-4D97-AF65-F5344CB8AC3E}">
        <p14:creationId xmlns:p14="http://schemas.microsoft.com/office/powerpoint/2010/main" val="57285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2F4A9-4B39-531A-7FD3-B1507F67B78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9C4BDF-CFD6-585B-8F58-F9D16D13F2C8}"/>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3" name="Title 2">
            <a:extLst>
              <a:ext uri="{FF2B5EF4-FFF2-40B4-BE49-F238E27FC236}">
                <a16:creationId xmlns:a16="http://schemas.microsoft.com/office/drawing/2014/main" id="{D0C22A43-B5D3-8722-3519-B5FABB04FE85}"/>
              </a:ext>
            </a:extLst>
          </p:cNvPr>
          <p:cNvSpPr>
            <a:spLocks noGrp="1"/>
          </p:cNvSpPr>
          <p:nvPr>
            <p:ph type="title"/>
          </p:nvPr>
        </p:nvSpPr>
        <p:spPr>
          <a:xfrm>
            <a:off x="234950" y="87240"/>
            <a:ext cx="8673846" cy="451739"/>
          </a:xfrm>
        </p:spPr>
        <p:txBody>
          <a:bodyPr/>
          <a:lstStyle/>
          <a:p>
            <a:r>
              <a:rPr lang="en-US" dirty="0"/>
              <a:t>Optimization method</a:t>
            </a:r>
            <a:br>
              <a:rPr lang="en-US" dirty="0"/>
            </a:br>
            <a:br>
              <a:rPr lang="en-US" dirty="0"/>
            </a:br>
            <a:endParaRPr lang="en-US"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33169619-357D-F71C-44AB-91E666CCC19D}"/>
                  </a:ext>
                </a:extLst>
              </p:cNvPr>
              <p:cNvSpPr>
                <a:spLocks noGrp="1"/>
              </p:cNvSpPr>
              <p:nvPr>
                <p:ph type="body" sz="quarter" idx="13"/>
              </p:nvPr>
            </p:nvSpPr>
            <p:spPr/>
            <p:txBody>
              <a:bodyPr/>
              <a:lstStyle/>
              <a:p>
                <a:pPr marL="457200" lvl="1" indent="0">
                  <a:buNone/>
                </a:pPr>
                <a:r>
                  <a:rPr lang="en-US" dirty="0"/>
                  <a:t>Gradient Descent: Limitation – Vanishing Gradient</a:t>
                </a:r>
              </a:p>
              <a:p>
                <a:pPr marL="457200" lvl="1" indent="0">
                  <a:buNone/>
                </a:pPr>
                <a:endParaRPr lang="en-US" dirty="0"/>
              </a:p>
              <a:p>
                <a:pPr lvl="1"/>
                <a:r>
                  <a:rPr lang="en-US" dirty="0"/>
                  <a:t>Maximization problem =&gt; optimize </a:t>
                </a:r>
                <a14:m>
                  <m:oMath xmlns:m="http://schemas.openxmlformats.org/officeDocument/2006/math">
                    <m:r>
                      <a:rPr lang="en-US" i="1" dirty="0" smtClean="0">
                        <a:latin typeface="Cambria Math" panose="02040503050406030204" pitchFamily="18" charset="0"/>
                      </a:rPr>
                      <m:t>–</m:t>
                    </m:r>
                    <m:r>
                      <a:rPr lang="en-US" i="1" dirty="0" smtClean="0">
                        <a:latin typeface="Cambria Math" panose="02040503050406030204" pitchFamily="18" charset="0"/>
                      </a:rPr>
                      <m:t>𝑓</m:t>
                    </m:r>
                    <m:r>
                      <a:rPr lang="en-US" i="1" dirty="0" smtClean="0">
                        <a:latin typeface="Cambria Math" panose="02040503050406030204" pitchFamily="18" charset="0"/>
                      </a:rPr>
                      <m:t>()</m:t>
                    </m:r>
                  </m:oMath>
                </a14:m>
                <a:endParaRPr lang="en-US" dirty="0"/>
              </a:p>
              <a:p>
                <a:pPr lvl="1"/>
                <a:endParaRPr lang="en-US" dirty="0"/>
              </a:p>
              <a:p>
                <a:pPr lvl="1"/>
                <a14:m>
                  <m:oMath xmlns:m="http://schemas.openxmlformats.org/officeDocument/2006/math">
                    <m:r>
                      <a:rPr lang="en-US" b="0" i="1" dirty="0" smtClean="0">
                        <a:latin typeface="Cambria Math" panose="02040503050406030204" pitchFamily="18" charset="0"/>
                      </a:rPr>
                      <m:t>𝑓</m:t>
                    </m:r>
                    <m:r>
                      <a:rPr lang="en-US" b="0" i="1" dirty="0" smtClean="0">
                        <a:latin typeface="Cambria Math" panose="02040503050406030204" pitchFamily="18" charset="0"/>
                      </a:rPr>
                      <m:t>()→∞</m:t>
                    </m:r>
                    <m:r>
                      <a:rPr lang="en-US" b="0" i="0" dirty="0" smtClean="0">
                        <a:latin typeface="Cambria Math" panose="02040503050406030204" pitchFamily="18" charset="0"/>
                      </a:rPr>
                      <m:t>⇒</m:t>
                    </m:r>
                  </m:oMath>
                </a14:m>
                <a:r>
                  <a:rPr lang="en-US" dirty="0"/>
                  <a:t> </a:t>
                </a:r>
                <a14:m>
                  <m:oMath xmlns:m="http://schemas.openxmlformats.org/officeDocument/2006/math">
                    <m:sSub>
                      <m:sSubPr>
                        <m:ctrlPr>
                          <a:rPr lang="en-US" b="0" i="1" dirty="0" smtClean="0">
                            <a:latin typeface="Cambria Math" panose="02040503050406030204" pitchFamily="18" charset="0"/>
                          </a:rPr>
                        </m:ctrlPr>
                      </m:sSubPr>
                      <m:e>
                        <m:r>
                          <a:rPr lang="en-US" i="1" dirty="0" smtClean="0">
                            <a:latin typeface="Cambria Math" panose="02040503050406030204" pitchFamily="18" charset="0"/>
                          </a:rPr>
                          <m:t>𝑔</m:t>
                        </m:r>
                      </m:e>
                      <m:sub>
                        <m:r>
                          <a:rPr lang="en-US" b="0" i="1" dirty="0" smtClean="0">
                            <a:latin typeface="Cambria Math" panose="02040503050406030204" pitchFamily="18" charset="0"/>
                          </a:rPr>
                          <m:t>𝑡</m:t>
                        </m:r>
                      </m:sub>
                    </m:sSub>
                    <m:r>
                      <a:rPr lang="en-US" i="1" dirty="0" smtClean="0">
                        <a:latin typeface="Cambria Math" panose="02040503050406030204" pitchFamily="18" charset="0"/>
                      </a:rPr>
                      <m:t>→ 0</m:t>
                    </m:r>
                    <m:r>
                      <a:rPr lang="en-US" b="0" i="0" dirty="0" smtClean="0">
                        <a:latin typeface="Cambria Math" panose="02040503050406030204" pitchFamily="18" charset="0"/>
                      </a:rPr>
                      <m:t>⇒</m:t>
                    </m:r>
                  </m:oMath>
                </a14:m>
                <a:r>
                  <a:rPr lang="en-US" dirty="0"/>
                  <a:t> algorithm stops prematurely</a:t>
                </a:r>
              </a:p>
              <a:p>
                <a:pPr marL="457200" lvl="1" indent="0">
                  <a:buNone/>
                </a:pPr>
                <a:endParaRPr lang="en-US" dirty="0"/>
              </a:p>
              <a:p>
                <a:pPr lvl="1"/>
                <a:endParaRPr lang="en-US" dirty="0"/>
              </a:p>
              <a:p>
                <a:pPr marL="457200" lvl="1" indent="0">
                  <a:buNone/>
                </a:pPr>
                <a:r>
                  <a:rPr lang="en-US" dirty="0"/>
                  <a:t>Solution:</a:t>
                </a:r>
              </a:p>
              <a:p>
                <a:pPr marL="457200" lvl="1" indent="0" algn="ctr">
                  <a:buNone/>
                </a:pPr>
                <a:endParaRPr lang="en-US" dirty="0"/>
              </a:p>
              <a:p>
                <a:pPr marL="457200" lvl="1" indent="0" algn="ctr">
                  <a:buNone/>
                </a:pPr>
                <a:r>
                  <a:rPr lang="en-US" b="1" i="1" u="sng" dirty="0"/>
                  <a:t>Adam Optimizer</a:t>
                </a:r>
              </a:p>
              <a:p>
                <a:pPr lvl="1"/>
                <a:endParaRPr lang="en-US" dirty="0"/>
              </a:p>
              <a:p>
                <a:pPr marL="457200" lvl="1" indent="0">
                  <a:buNone/>
                </a:pPr>
                <a:endParaRPr lang="en-US" dirty="0"/>
              </a:p>
            </p:txBody>
          </p:sp>
        </mc:Choice>
        <mc:Fallback xmlns="">
          <p:sp>
            <p:nvSpPr>
              <p:cNvPr id="4" name="Text Placeholder 3">
                <a:extLst>
                  <a:ext uri="{FF2B5EF4-FFF2-40B4-BE49-F238E27FC236}">
                    <a16:creationId xmlns:a16="http://schemas.microsoft.com/office/drawing/2014/main" id="{33169619-357D-F71C-44AB-91E666CCC19D}"/>
                  </a:ext>
                </a:extLst>
              </p:cNvPr>
              <p:cNvSpPr>
                <a:spLocks noGrp="1" noRot="1" noChangeAspect="1" noMove="1" noResize="1" noEditPoints="1" noAdjustHandles="1" noChangeArrowheads="1" noChangeShapeType="1" noTextEdit="1"/>
              </p:cNvSpPr>
              <p:nvPr>
                <p:ph type="body" sz="quarter" idx="13"/>
              </p:nvPr>
            </p:nvSpPr>
            <p:spPr>
              <a:blipFill>
                <a:blip r:embed="rId2"/>
                <a:stretch>
                  <a:fillRect t="-1752"/>
                </a:stretch>
              </a:blipFill>
            </p:spPr>
            <p:txBody>
              <a:bodyPr/>
              <a:lstStyle/>
              <a:p>
                <a:r>
                  <a:rPr lang="en-US">
                    <a:noFill/>
                  </a:rPr>
                  <a:t> </a:t>
                </a:r>
              </a:p>
            </p:txBody>
          </p:sp>
        </mc:Fallback>
      </mc:AlternateContent>
    </p:spTree>
    <p:extLst>
      <p:ext uri="{BB962C8B-B14F-4D97-AF65-F5344CB8AC3E}">
        <p14:creationId xmlns:p14="http://schemas.microsoft.com/office/powerpoint/2010/main" val="1914027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145C4-6EA4-5456-D6B2-AE314128690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AC78CE8-7D09-552F-D83B-EC77CAC4170D}"/>
              </a:ext>
            </a:extLst>
          </p:cNvPr>
          <p:cNvSpPr>
            <a:spLocks noGrp="1"/>
          </p:cNvSpPr>
          <p:nvPr>
            <p:ph type="sldNum" sz="quarter" idx="12"/>
          </p:nvPr>
        </p:nvSpPr>
        <p:spPr/>
        <p:txBody>
          <a:bodyPr/>
          <a:lstStyle/>
          <a:p>
            <a:fld id="{9EA0BE3B-158A-4EDF-80DC-E394A0D1600F}" type="slidenum">
              <a:rPr lang="en-US" smtClean="0"/>
              <a:pPr/>
              <a:t>19</a:t>
            </a:fld>
            <a:endParaRPr lang="en-US" dirty="0"/>
          </a:p>
        </p:txBody>
      </p:sp>
      <p:sp>
        <p:nvSpPr>
          <p:cNvPr id="3" name="Title 2">
            <a:extLst>
              <a:ext uri="{FF2B5EF4-FFF2-40B4-BE49-F238E27FC236}">
                <a16:creationId xmlns:a16="http://schemas.microsoft.com/office/drawing/2014/main" id="{B91D1D08-ABA1-318D-4C8A-EDA1E387230C}"/>
              </a:ext>
            </a:extLst>
          </p:cNvPr>
          <p:cNvSpPr>
            <a:spLocks noGrp="1"/>
          </p:cNvSpPr>
          <p:nvPr>
            <p:ph type="title"/>
          </p:nvPr>
        </p:nvSpPr>
        <p:spPr>
          <a:xfrm>
            <a:off x="234950" y="87240"/>
            <a:ext cx="8673846" cy="451739"/>
          </a:xfrm>
        </p:spPr>
        <p:txBody>
          <a:bodyPr/>
          <a:lstStyle/>
          <a:p>
            <a:r>
              <a:rPr lang="en-US" dirty="0"/>
              <a:t>Optimization method</a:t>
            </a:r>
            <a:br>
              <a:rPr lang="en-US" dirty="0"/>
            </a:br>
            <a:br>
              <a:rPr lang="en-US" dirty="0"/>
            </a:br>
            <a:endParaRPr lang="en-US"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921A12BF-8536-D622-EAFC-7E77001FC91C}"/>
                  </a:ext>
                </a:extLst>
              </p:cNvPr>
              <p:cNvSpPr>
                <a:spLocks noGrp="1"/>
              </p:cNvSpPr>
              <p:nvPr>
                <p:ph type="body" sz="quarter" idx="13"/>
              </p:nvPr>
            </p:nvSpPr>
            <p:spPr/>
            <p:txBody>
              <a:bodyPr/>
              <a:lstStyle/>
              <a:p>
                <a:pPr marL="457200" lvl="1" indent="0">
                  <a:buNone/>
                </a:pPr>
                <a:r>
                  <a:rPr lang="en-US" dirty="0"/>
                  <a:t>Adam Optimizer:</a:t>
                </a:r>
              </a:p>
              <a:p>
                <a:pPr marL="457200" lvl="1" indent="0">
                  <a:buNone/>
                </a:pPr>
                <a:endParaRPr lang="en-US" dirty="0"/>
              </a:p>
              <a:p>
                <a:pPr lvl="1"/>
                <a:r>
                  <a:rPr lang="en-US" dirty="0"/>
                  <a:t>Momentum: accumulates past gradients</a:t>
                </a:r>
              </a:p>
              <a:p>
                <a:pPr marL="457200" lvl="1" indent="0" algn="ctr">
                  <a:buNone/>
                </a:pPr>
                <a:endParaRPr lang="en-US" dirty="0"/>
              </a:p>
              <a:p>
                <a:pPr marL="457200" lvl="1" indent="0" algn="ctr">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𝑡</m:t>
                          </m:r>
                          <m:r>
                            <a:rPr lang="en-US" b="0" i="1" smtClean="0">
                              <a:latin typeface="Cambria Math" panose="02040503050406030204" pitchFamily="18" charset="0"/>
                            </a:rPr>
                            <m:t> −1</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𝛽</m:t>
                              </m:r>
                            </m:e>
                            <m:sub>
                              <m:r>
                                <a:rPr lang="en-US" b="0" i="1" smtClean="0">
                                  <a:latin typeface="Cambria Math" panose="02040503050406030204" pitchFamily="18" charset="0"/>
                                </a:rPr>
                                <m:t>1</m:t>
                              </m:r>
                            </m:sub>
                          </m:sSub>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𝑔</m:t>
                          </m:r>
                        </m:e>
                        <m:sub>
                          <m:r>
                            <a:rPr lang="en-US" b="0" i="1" smtClean="0">
                              <a:latin typeface="Cambria Math" panose="02040503050406030204" pitchFamily="18" charset="0"/>
                            </a:rPr>
                            <m:t>𝑡</m:t>
                          </m:r>
                        </m:sub>
                      </m:sSub>
                    </m:oMath>
                  </m:oMathPara>
                </a14:m>
                <a:endParaRPr lang="en-US" sz="1600" dirty="0"/>
              </a:p>
              <a:p>
                <a:pPr marL="457200" lvl="1" indent="0">
                  <a:buNone/>
                </a:pPr>
                <a:endParaRPr lang="en-US" dirty="0"/>
              </a:p>
              <a:p>
                <a:pPr marL="457200" lvl="1" indent="0">
                  <a:buNone/>
                </a:pP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𝛽</m:t>
                        </m:r>
                      </m:e>
                      <m:sub>
                        <m:r>
                          <a:rPr lang="en-US" i="1">
                            <a:latin typeface="Cambria Math" panose="02040503050406030204" pitchFamily="18" charset="0"/>
                          </a:rPr>
                          <m:t>1</m:t>
                        </m:r>
                      </m:sub>
                    </m:sSub>
                    <m:r>
                      <a:rPr lang="en-US" b="0" i="1" smtClean="0">
                        <a:latin typeface="Cambria Math" panose="02040503050406030204" pitchFamily="18" charset="0"/>
                      </a:rPr>
                      <m:t>=0.9</m:t>
                    </m:r>
                  </m:oMath>
                </a14:m>
                <a:r>
                  <a:rPr lang="en-US" dirty="0"/>
                  <a:t>: The exponential decay rate for the first moment estimates (momentum)</a:t>
                </a:r>
              </a:p>
              <a:p>
                <a:pPr marL="457200" lvl="1" indent="0">
                  <a:buNone/>
                </a:pPr>
                <a:endParaRPr lang="en-US" dirty="0"/>
              </a:p>
              <a:p>
                <a:pPr marL="457200" lvl="1" indent="0">
                  <a:buNone/>
                </a:pPr>
                <a:endParaRPr lang="en-US" dirty="0"/>
              </a:p>
              <a:p>
                <a:pPr lvl="1"/>
                <a:r>
                  <a:rPr lang="en-US" dirty="0"/>
                  <a:t>Adaptive step sizes =&gt; faster time to extrema</a:t>
                </a:r>
              </a:p>
              <a:p>
                <a:pPr marL="457200" lvl="1" indent="0">
                  <a:buNone/>
                </a:pPr>
                <a:endParaRPr lang="en-US" dirty="0"/>
              </a:p>
            </p:txBody>
          </p:sp>
        </mc:Choice>
        <mc:Fallback xmlns="">
          <p:sp>
            <p:nvSpPr>
              <p:cNvPr id="4" name="Text Placeholder 3">
                <a:extLst>
                  <a:ext uri="{FF2B5EF4-FFF2-40B4-BE49-F238E27FC236}">
                    <a16:creationId xmlns:a16="http://schemas.microsoft.com/office/drawing/2014/main" id="{921A12BF-8536-D622-EAFC-7E77001FC91C}"/>
                  </a:ext>
                </a:extLst>
              </p:cNvPr>
              <p:cNvSpPr>
                <a:spLocks noGrp="1" noRot="1" noChangeAspect="1" noMove="1" noResize="1" noEditPoints="1" noAdjustHandles="1" noChangeArrowheads="1" noChangeShapeType="1" noTextEdit="1"/>
              </p:cNvSpPr>
              <p:nvPr>
                <p:ph type="body" sz="quarter" idx="13"/>
              </p:nvPr>
            </p:nvSpPr>
            <p:spPr>
              <a:blipFill>
                <a:blip r:embed="rId2"/>
                <a:stretch>
                  <a:fillRect t="-1752"/>
                </a:stretch>
              </a:blipFill>
            </p:spPr>
            <p:txBody>
              <a:bodyPr/>
              <a:lstStyle/>
              <a:p>
                <a:r>
                  <a:rPr lang="en-US">
                    <a:noFill/>
                  </a:rPr>
                  <a:t> </a:t>
                </a:r>
              </a:p>
            </p:txBody>
          </p:sp>
        </mc:Fallback>
      </mc:AlternateContent>
    </p:spTree>
    <p:extLst>
      <p:ext uri="{BB962C8B-B14F-4D97-AF65-F5344CB8AC3E}">
        <p14:creationId xmlns:p14="http://schemas.microsoft.com/office/powerpoint/2010/main" val="3148648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1152D-6CE7-0313-1E81-408F788BEB6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27C0DA-5D3D-9BB0-63B9-C5C5FF68DF5B}"/>
              </a:ext>
            </a:extLst>
          </p:cNvPr>
          <p:cNvSpPr>
            <a:spLocks noGrp="1"/>
          </p:cNvSpPr>
          <p:nvPr>
            <p:ph type="sldNum" sz="quarter" idx="12"/>
          </p:nvPr>
        </p:nvSpPr>
        <p:spPr/>
        <p:txBody>
          <a:bodyPr/>
          <a:lstStyle/>
          <a:p>
            <a:fld id="{9EA0BE3B-158A-4EDF-80DC-E394A0D1600F}" type="slidenum">
              <a:rPr lang="en-US" smtClean="0"/>
              <a:pPr/>
              <a:t>20</a:t>
            </a:fld>
            <a:endParaRPr lang="en-US" dirty="0"/>
          </a:p>
        </p:txBody>
      </p:sp>
      <p:sp>
        <p:nvSpPr>
          <p:cNvPr id="3" name="Title 2">
            <a:extLst>
              <a:ext uri="{FF2B5EF4-FFF2-40B4-BE49-F238E27FC236}">
                <a16:creationId xmlns:a16="http://schemas.microsoft.com/office/drawing/2014/main" id="{97122628-2535-80C5-1AC8-62241FE19E04}"/>
              </a:ext>
            </a:extLst>
          </p:cNvPr>
          <p:cNvSpPr>
            <a:spLocks noGrp="1"/>
          </p:cNvSpPr>
          <p:nvPr>
            <p:ph type="title"/>
          </p:nvPr>
        </p:nvSpPr>
        <p:spPr>
          <a:xfrm>
            <a:off x="234950" y="87240"/>
            <a:ext cx="8673846" cy="451739"/>
          </a:xfrm>
        </p:spPr>
        <p:txBody>
          <a:bodyPr/>
          <a:lstStyle/>
          <a:p>
            <a:r>
              <a:rPr lang="en-US" dirty="0"/>
              <a:t>Optimization method</a:t>
            </a:r>
            <a:br>
              <a:rPr lang="en-US" dirty="0"/>
            </a:br>
            <a:br>
              <a:rPr lang="en-US" dirty="0"/>
            </a:br>
            <a:endParaRPr lang="en-US"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653D2C09-A21F-8292-1BA5-1841365A4F66}"/>
                  </a:ext>
                </a:extLst>
              </p:cNvPr>
              <p:cNvSpPr>
                <a:spLocks noGrp="1"/>
              </p:cNvSpPr>
              <p:nvPr>
                <p:ph type="body" sz="quarter" idx="13"/>
              </p:nvPr>
            </p:nvSpPr>
            <p:spPr>
              <a:xfrm>
                <a:off x="250937" y="1179576"/>
                <a:ext cx="8674100" cy="4983480"/>
              </a:xfrm>
            </p:spPr>
            <p:txBody>
              <a:bodyPr/>
              <a:lstStyle/>
              <a:p>
                <a:pPr marL="457200" lvl="1" indent="0">
                  <a:lnSpc>
                    <a:spcPct val="100000"/>
                  </a:lnSpc>
                  <a:buNone/>
                </a:pPr>
                <a:r>
                  <a:rPr lang="en-US" sz="1800" dirty="0"/>
                  <a:t>Adam Optimizer:</a:t>
                </a:r>
              </a:p>
              <a:p>
                <a:pPr lvl="1">
                  <a:lnSpc>
                    <a:spcPct val="100000"/>
                  </a:lnSpc>
                </a:pPr>
                <a:r>
                  <a:rPr lang="en-US" sz="1800" dirty="0"/>
                  <a:t>Exponentially decaying average of past squared gradients</a:t>
                </a:r>
              </a:p>
              <a:p>
                <a:pPr marL="457200" lvl="1" indent="0" algn="ctr">
                  <a:lnSpc>
                    <a:spcPct val="100000"/>
                  </a:lnSpc>
                  <a:buNone/>
                </a:pPr>
                <a:endParaRPr lang="en-US" sz="1800" dirty="0"/>
              </a:p>
              <a:p>
                <a:pPr marL="457200" lvl="1" indent="0" algn="ctr">
                  <a:lnSpc>
                    <a:spcPct val="100000"/>
                  </a:lnSpc>
                  <a:buNone/>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𝑡</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𝛽</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𝑡</m:t>
                          </m:r>
                          <m:r>
                            <a:rPr lang="en-US" sz="1800" b="0" i="1" smtClean="0">
                              <a:latin typeface="Cambria Math" panose="02040503050406030204" pitchFamily="18" charset="0"/>
                            </a:rPr>
                            <m:t>−1</m:t>
                          </m:r>
                        </m:sub>
                      </m:sSub>
                      <m:r>
                        <a:rPr lang="en-US" sz="1800" b="0" i="1" smtClean="0">
                          <a:latin typeface="Cambria Math" panose="02040503050406030204" pitchFamily="18" charset="0"/>
                        </a:rPr>
                        <m:t>+</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1−</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𝛽</m:t>
                              </m:r>
                            </m:e>
                            <m:sub>
                              <m:r>
                                <a:rPr lang="en-US" sz="1800" b="0" i="1" smtClean="0">
                                  <a:latin typeface="Cambria Math" panose="02040503050406030204" pitchFamily="18" charset="0"/>
                                </a:rPr>
                                <m:t>2</m:t>
                              </m:r>
                            </m:sub>
                          </m:sSub>
                        </m:e>
                      </m:d>
                      <m:r>
                        <a:rPr lang="en-US" sz="1800" b="0" i="1" smtClean="0">
                          <a:latin typeface="Cambria Math" panose="02040503050406030204" pitchFamily="18" charset="0"/>
                        </a:rPr>
                        <m:t>×</m:t>
                      </m:r>
                      <m:sSubSup>
                        <m:sSubSupPr>
                          <m:ctrlPr>
                            <a:rPr lang="en-US" sz="1800" b="0" i="1" smtClean="0">
                              <a:latin typeface="Cambria Math" panose="02040503050406030204" pitchFamily="18" charset="0"/>
                            </a:rPr>
                          </m:ctrlPr>
                        </m:sSubSupPr>
                        <m:e>
                          <m:r>
                            <a:rPr lang="en-US" sz="1800" b="0" i="1" smtClean="0">
                              <a:latin typeface="Cambria Math" panose="02040503050406030204" pitchFamily="18" charset="0"/>
                            </a:rPr>
                            <m:t>𝑔</m:t>
                          </m:r>
                        </m:e>
                        <m:sub>
                          <m:r>
                            <a:rPr lang="en-US" sz="1800" b="0" i="1" smtClean="0">
                              <a:latin typeface="Cambria Math" panose="02040503050406030204" pitchFamily="18" charset="0"/>
                            </a:rPr>
                            <m:t>𝑡</m:t>
                          </m:r>
                        </m:sub>
                        <m:sup>
                          <m:r>
                            <a:rPr lang="en-US" sz="1800" b="0" i="1" smtClean="0">
                              <a:latin typeface="Cambria Math" panose="02040503050406030204" pitchFamily="18" charset="0"/>
                            </a:rPr>
                            <m:t>2</m:t>
                          </m:r>
                        </m:sup>
                      </m:sSubSup>
                    </m:oMath>
                  </m:oMathPara>
                </a14:m>
                <a:endParaRPr lang="en-US" sz="1800" dirty="0"/>
              </a:p>
              <a:p>
                <a:pPr marL="457200" lvl="1" indent="0">
                  <a:lnSpc>
                    <a:spcPct val="100000"/>
                  </a:lnSpc>
                  <a:buNone/>
                </a:pPr>
                <a:endParaRPr lang="en-US" sz="1800" dirty="0"/>
              </a:p>
              <a:p>
                <a:pPr marL="457200" lvl="1" indent="0">
                  <a:lnSpc>
                    <a:spcPct val="100000"/>
                  </a:lnSpc>
                  <a:buNone/>
                </a:pPr>
                <a14:m>
                  <m:oMath xmlns:m="http://schemas.openxmlformats.org/officeDocument/2006/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𝛽</m:t>
                        </m:r>
                      </m:e>
                      <m:sub>
                        <m:r>
                          <a:rPr lang="en-US" sz="1800" b="0" i="1" smtClean="0">
                            <a:latin typeface="Cambria Math" panose="02040503050406030204" pitchFamily="18" charset="0"/>
                          </a:rPr>
                          <m:t>2</m:t>
                        </m:r>
                      </m:sub>
                    </m:sSub>
                    <m:r>
                      <a:rPr lang="en-US" sz="1800" b="0" i="1" smtClean="0">
                        <a:latin typeface="Cambria Math" panose="02040503050406030204" pitchFamily="18" charset="0"/>
                      </a:rPr>
                      <m:t>=0.999</m:t>
                    </m:r>
                  </m:oMath>
                </a14:m>
                <a:r>
                  <a:rPr lang="en-US" sz="1800" dirty="0"/>
                  <a:t>: The exponential decay rate for the second moment estimates (variance)</a:t>
                </a:r>
              </a:p>
              <a:p>
                <a:pPr lvl="1">
                  <a:lnSpc>
                    <a:spcPct val="100000"/>
                  </a:lnSpc>
                </a:pPr>
                <a:r>
                  <a:rPr lang="en-US" sz="1800" dirty="0"/>
                  <a:t>Bias correction (zero bias)</a:t>
                </a:r>
              </a:p>
              <a:p>
                <a:pPr marL="457200" lvl="1" indent="0">
                  <a:lnSpc>
                    <a:spcPct val="100000"/>
                  </a:lnSpc>
                  <a:buNone/>
                </a:pPr>
                <a:endParaRPr lang="en-US" sz="1800" dirty="0"/>
              </a:p>
              <a:p>
                <a:pPr marL="457200" lvl="1" indent="0">
                  <a:lnSpc>
                    <a:spcPct val="100000"/>
                  </a:lnSpc>
                  <a:buNone/>
                </a:pPr>
                <a:r>
                  <a:rPr lang="en-US" sz="1800" b="0" dirty="0"/>
                  <a:t>First moment: </a:t>
                </a:r>
                <a14:m>
                  <m:oMath xmlns:m="http://schemas.openxmlformats.org/officeDocument/2006/math">
                    <m:sSub>
                      <m:sSubPr>
                        <m:ctrlPr>
                          <a:rPr lang="en-US" sz="1800" b="0" i="1" dirty="0"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𝑚</m:t>
                            </m:r>
                          </m:e>
                        </m:acc>
                      </m:e>
                      <m:sub>
                        <m:r>
                          <a:rPr lang="en-US" sz="1800" b="0" i="1" dirty="0" smtClean="0">
                            <a:latin typeface="Cambria Math" panose="02040503050406030204" pitchFamily="18" charset="0"/>
                          </a:rPr>
                          <m:t>𝑡</m:t>
                        </m:r>
                      </m:sub>
                    </m:sSub>
                    <m:r>
                      <a:rPr lang="en-US" sz="1800" b="0" i="1" dirty="0" smtClean="0">
                        <a:latin typeface="Cambria Math" panose="02040503050406030204" pitchFamily="18" charset="0"/>
                      </a:rPr>
                      <m:t>=</m:t>
                    </m:r>
                    <m:f>
                      <m:fPr>
                        <m:ctrlPr>
                          <a:rPr lang="en-US" sz="1800" b="0" i="1" dirty="0" smtClean="0">
                            <a:latin typeface="Cambria Math" panose="02040503050406030204" pitchFamily="18" charset="0"/>
                          </a:rPr>
                        </m:ctrlPr>
                      </m:fPr>
                      <m:num>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𝑚</m:t>
                            </m:r>
                          </m:e>
                          <m:sub>
                            <m:r>
                              <a:rPr lang="en-US" sz="1800" b="0" i="1" dirty="0" smtClean="0">
                                <a:latin typeface="Cambria Math" panose="02040503050406030204" pitchFamily="18" charset="0"/>
                              </a:rPr>
                              <m:t>𝑡</m:t>
                            </m:r>
                          </m:sub>
                        </m:sSub>
                      </m:num>
                      <m:den>
                        <m:r>
                          <a:rPr lang="en-US" sz="1800" b="0" i="1" dirty="0" smtClean="0">
                            <a:latin typeface="Cambria Math" panose="02040503050406030204" pitchFamily="18" charset="0"/>
                          </a:rPr>
                          <m:t>1 −</m:t>
                        </m:r>
                        <m:sSubSup>
                          <m:sSubSupPr>
                            <m:ctrlPr>
                              <a:rPr lang="en-US" sz="1800" b="0" i="1" dirty="0" smtClean="0">
                                <a:latin typeface="Cambria Math" panose="02040503050406030204" pitchFamily="18" charset="0"/>
                              </a:rPr>
                            </m:ctrlPr>
                          </m:sSubSupPr>
                          <m:e>
                            <m:r>
                              <a:rPr lang="en-US" sz="1800" b="0" i="1" dirty="0" smtClean="0">
                                <a:latin typeface="Cambria Math" panose="02040503050406030204" pitchFamily="18" charset="0"/>
                              </a:rPr>
                              <m:t>𝛽</m:t>
                            </m:r>
                          </m:e>
                          <m:sub>
                            <m:r>
                              <a:rPr lang="en-US" sz="1800" b="0" i="1" dirty="0" smtClean="0">
                                <a:latin typeface="Cambria Math" panose="02040503050406030204" pitchFamily="18" charset="0"/>
                              </a:rPr>
                              <m:t>1</m:t>
                            </m:r>
                          </m:sub>
                          <m:sup>
                            <m:r>
                              <a:rPr lang="en-US" sz="1800" b="0" i="1" dirty="0" smtClean="0">
                                <a:latin typeface="Cambria Math" panose="02040503050406030204" pitchFamily="18" charset="0"/>
                              </a:rPr>
                              <m:t>𝑡</m:t>
                            </m:r>
                          </m:sup>
                        </m:sSubSup>
                      </m:den>
                    </m:f>
                  </m:oMath>
                </a14:m>
                <a:endParaRPr lang="en-US" sz="1800" dirty="0"/>
              </a:p>
              <a:p>
                <a:pPr marL="457200" lvl="1" indent="0">
                  <a:lnSpc>
                    <a:spcPct val="100000"/>
                  </a:lnSpc>
                  <a:buNone/>
                </a:pPr>
                <a:endParaRPr lang="en-US" sz="1800" dirty="0"/>
              </a:p>
              <a:p>
                <a:pPr marL="457200" lvl="1" indent="0">
                  <a:lnSpc>
                    <a:spcPct val="100000"/>
                  </a:lnSpc>
                  <a:buNone/>
                </a:pPr>
                <a:r>
                  <a:rPr lang="en-US" sz="1800" dirty="0"/>
                  <a:t>Second moment: </a:t>
                </a:r>
                <a14:m>
                  <m:oMath xmlns:m="http://schemas.openxmlformats.org/officeDocument/2006/math">
                    <m:sSub>
                      <m:sSubPr>
                        <m:ctrlPr>
                          <a:rPr lang="en-US" sz="1800" b="0" i="1" dirty="0"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𝑣</m:t>
                            </m:r>
                          </m:e>
                        </m:acc>
                      </m:e>
                      <m:sub>
                        <m:r>
                          <a:rPr lang="en-US" sz="1800" b="0" i="1" dirty="0" smtClean="0">
                            <a:latin typeface="Cambria Math" panose="02040503050406030204" pitchFamily="18" charset="0"/>
                          </a:rPr>
                          <m:t>𝑡</m:t>
                        </m:r>
                      </m:sub>
                    </m:sSub>
                    <m:r>
                      <a:rPr lang="en-US" sz="1800" b="0" i="1" dirty="0" smtClean="0">
                        <a:latin typeface="Cambria Math" panose="02040503050406030204" pitchFamily="18" charset="0"/>
                      </a:rPr>
                      <m:t>=</m:t>
                    </m:r>
                    <m:f>
                      <m:fPr>
                        <m:ctrlPr>
                          <a:rPr lang="en-US" sz="1800" b="0" i="1" dirty="0" smtClean="0">
                            <a:latin typeface="Cambria Math" panose="02040503050406030204" pitchFamily="18" charset="0"/>
                          </a:rPr>
                        </m:ctrlPr>
                      </m:fPr>
                      <m:num>
                        <m:sSub>
                          <m:sSubPr>
                            <m:ctrlPr>
                              <a:rPr lang="en-US" sz="1800" b="0" i="1" dirty="0" smtClean="0">
                                <a:latin typeface="Cambria Math" panose="02040503050406030204" pitchFamily="18" charset="0"/>
                              </a:rPr>
                            </m:ctrlPr>
                          </m:sSubPr>
                          <m:e>
                            <m:r>
                              <a:rPr lang="en-US" sz="1800" b="0" i="1" dirty="0" smtClean="0">
                                <a:latin typeface="Cambria Math" panose="02040503050406030204" pitchFamily="18" charset="0"/>
                              </a:rPr>
                              <m:t>𝑣</m:t>
                            </m:r>
                          </m:e>
                          <m:sub>
                            <m:r>
                              <a:rPr lang="en-US" sz="1800" b="0" i="1" dirty="0" smtClean="0">
                                <a:latin typeface="Cambria Math" panose="02040503050406030204" pitchFamily="18" charset="0"/>
                              </a:rPr>
                              <m:t>𝑡</m:t>
                            </m:r>
                          </m:sub>
                        </m:sSub>
                      </m:num>
                      <m:den>
                        <m:r>
                          <a:rPr lang="en-US" sz="1800" b="0" i="1" dirty="0" smtClean="0">
                            <a:latin typeface="Cambria Math" panose="02040503050406030204" pitchFamily="18" charset="0"/>
                          </a:rPr>
                          <m:t>1 −</m:t>
                        </m:r>
                        <m:sSubSup>
                          <m:sSubSupPr>
                            <m:ctrlPr>
                              <a:rPr lang="en-US" sz="1800" b="0" i="1" dirty="0" smtClean="0">
                                <a:latin typeface="Cambria Math" panose="02040503050406030204" pitchFamily="18" charset="0"/>
                              </a:rPr>
                            </m:ctrlPr>
                          </m:sSubSupPr>
                          <m:e>
                            <m:r>
                              <a:rPr lang="en-US" sz="1800" b="0" i="1" dirty="0" smtClean="0">
                                <a:latin typeface="Cambria Math" panose="02040503050406030204" pitchFamily="18" charset="0"/>
                              </a:rPr>
                              <m:t>𝛽</m:t>
                            </m:r>
                          </m:e>
                          <m:sub>
                            <m:r>
                              <a:rPr lang="en-US" sz="1800" b="0" i="1" dirty="0" smtClean="0">
                                <a:latin typeface="Cambria Math" panose="02040503050406030204" pitchFamily="18" charset="0"/>
                              </a:rPr>
                              <m:t>2</m:t>
                            </m:r>
                          </m:sub>
                          <m:sup>
                            <m:r>
                              <a:rPr lang="en-US" sz="1800" b="0" i="1" dirty="0" smtClean="0">
                                <a:latin typeface="Cambria Math" panose="02040503050406030204" pitchFamily="18" charset="0"/>
                              </a:rPr>
                              <m:t>𝑡</m:t>
                            </m:r>
                          </m:sup>
                        </m:sSubSup>
                      </m:den>
                    </m:f>
                  </m:oMath>
                </a14:m>
                <a:endParaRPr lang="en-US" dirty="0"/>
              </a:p>
              <a:p>
                <a:pPr lvl="1">
                  <a:buFont typeface="Symbol" panose="05050102010706020507" pitchFamily="18" charset="2"/>
                  <a:buChar char="Þ"/>
                </a:pP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𝜃</m:t>
                        </m:r>
                      </m:e>
                      <m:sub>
                        <m:r>
                          <a:rPr lang="en-US" b="0" i="1" smtClean="0">
                            <a:latin typeface="Cambria Math" panose="02040503050406030204" pitchFamily="18" charset="0"/>
                          </a:rPr>
                          <m:t>𝑡</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𝛼</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𝑚</m:t>
                                </m:r>
                              </m:e>
                            </m:acc>
                          </m:e>
                          <m:sub>
                            <m:r>
                              <a:rPr lang="en-US" i="1" dirty="0">
                                <a:latin typeface="Cambria Math" panose="02040503050406030204" pitchFamily="18" charset="0"/>
                              </a:rPr>
                              <m:t>𝑡</m:t>
                            </m:r>
                          </m:sub>
                        </m:sSub>
                      </m:num>
                      <m:den>
                        <m:rad>
                          <m:radPr>
                            <m:degHide m:val="on"/>
                            <m:ctrlPr>
                              <a:rPr lang="en-US" b="0" i="1" smtClean="0">
                                <a:latin typeface="Cambria Math" panose="02040503050406030204" pitchFamily="18" charset="0"/>
                              </a:rPr>
                            </m:ctrlPr>
                          </m:radPr>
                          <m:deg/>
                          <m:e>
                            <m:sSub>
                              <m:sSubPr>
                                <m:ctrlPr>
                                  <a:rPr lang="en-US" i="1" dirty="0">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panose="02040503050406030204" pitchFamily="18" charset="0"/>
                                      </a:rPr>
                                      <m:t>𝑣</m:t>
                                    </m:r>
                                  </m:e>
                                </m:acc>
                              </m:e>
                              <m:sub>
                                <m:r>
                                  <a:rPr lang="en-US" i="1" dirty="0">
                                    <a:latin typeface="Cambria Math" panose="02040503050406030204" pitchFamily="18" charset="0"/>
                                  </a:rPr>
                                  <m:t>𝑡</m:t>
                                </m:r>
                              </m:sub>
                            </m:sSub>
                          </m:e>
                        </m:rad>
                        <m:r>
                          <a:rPr lang="en-US" b="0" i="1" smtClean="0">
                            <a:latin typeface="Cambria Math" panose="02040503050406030204" pitchFamily="18" charset="0"/>
                          </a:rPr>
                          <m:t>+</m:t>
                        </m:r>
                        <m:r>
                          <a:rPr lang="en-US" b="0" i="1" smtClean="0">
                            <a:latin typeface="Cambria Math" panose="02040503050406030204" pitchFamily="18" charset="0"/>
                          </a:rPr>
                          <m:t>𝜖</m:t>
                        </m:r>
                      </m:den>
                    </m:f>
                    <m:r>
                      <a:rPr lang="en-US" b="0" i="0" smtClean="0">
                        <a:latin typeface="Cambria Math" panose="02040503050406030204" pitchFamily="18" charset="0"/>
                      </a:rPr>
                      <m:t>, </m:t>
                    </m:r>
                    <m:r>
                      <a:rPr lang="en-US" b="0" i="1" smtClean="0">
                        <a:latin typeface="Cambria Math" panose="02040503050406030204" pitchFamily="18" charset="0"/>
                      </a:rPr>
                      <m:t>𝜖</m:t>
                    </m:r>
                    <m:r>
                      <a:rPr lang="en-US" b="0" i="1" smtClean="0">
                        <a:latin typeface="Cambria Math" panose="02040503050406030204" pitchFamily="18" charset="0"/>
                      </a:rPr>
                      <m:t>=1</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−8</m:t>
                        </m:r>
                      </m:sup>
                    </m:sSup>
                  </m:oMath>
                </a14:m>
                <a:endParaRPr lang="en-US" dirty="0"/>
              </a:p>
            </p:txBody>
          </p:sp>
        </mc:Choice>
        <mc:Fallback xmlns="">
          <p:sp>
            <p:nvSpPr>
              <p:cNvPr id="4" name="Text Placeholder 3">
                <a:extLst>
                  <a:ext uri="{FF2B5EF4-FFF2-40B4-BE49-F238E27FC236}">
                    <a16:creationId xmlns:a16="http://schemas.microsoft.com/office/drawing/2014/main" id="{653D2C09-A21F-8292-1BA5-1841365A4F66}"/>
                  </a:ext>
                </a:extLst>
              </p:cNvPr>
              <p:cNvSpPr>
                <a:spLocks noGrp="1" noRot="1" noChangeAspect="1" noMove="1" noResize="1" noEditPoints="1" noAdjustHandles="1" noChangeArrowheads="1" noChangeShapeType="1" noTextEdit="1"/>
              </p:cNvSpPr>
              <p:nvPr>
                <p:ph type="body" sz="quarter" idx="13"/>
              </p:nvPr>
            </p:nvSpPr>
            <p:spPr>
              <a:xfrm>
                <a:off x="250937" y="1179576"/>
                <a:ext cx="8674100" cy="4983480"/>
              </a:xfrm>
              <a:blipFill>
                <a:blip r:embed="rId2"/>
                <a:stretch>
                  <a:fillRect t="-734"/>
                </a:stretch>
              </a:blipFill>
            </p:spPr>
            <p:txBody>
              <a:bodyPr/>
              <a:lstStyle/>
              <a:p>
                <a:r>
                  <a:rPr lang="en-US">
                    <a:noFill/>
                  </a:rPr>
                  <a:t> </a:t>
                </a:r>
              </a:p>
            </p:txBody>
          </p:sp>
        </mc:Fallback>
      </mc:AlternateContent>
    </p:spTree>
    <p:extLst>
      <p:ext uri="{BB962C8B-B14F-4D97-AF65-F5344CB8AC3E}">
        <p14:creationId xmlns:p14="http://schemas.microsoft.com/office/powerpoint/2010/main" val="1649214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8B260-A553-9B74-B9DB-EBF1C693DC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D9FD31-57ED-FC52-4612-D12B015DCDBC}"/>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845D3D93-F89E-CCC2-066E-F22E20417200}"/>
              </a:ext>
            </a:extLst>
          </p:cNvPr>
          <p:cNvSpPr>
            <a:spLocks noGrp="1"/>
          </p:cNvSpPr>
          <p:nvPr>
            <p:ph type="body" sz="quarter" idx="13"/>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857250" indent="-857250">
              <a:buFont typeface="+mj-lt"/>
              <a:buAutoNum type="romanUcPeriod" startAt="3"/>
            </a:pPr>
            <a:r>
              <a:rPr lang="en-US" sz="3600" dirty="0"/>
              <a:t>Obtained results</a:t>
            </a:r>
          </a:p>
        </p:txBody>
      </p:sp>
      <p:sp>
        <p:nvSpPr>
          <p:cNvPr id="4" name="Slide Number Placeholder 3">
            <a:extLst>
              <a:ext uri="{FF2B5EF4-FFF2-40B4-BE49-F238E27FC236}">
                <a16:creationId xmlns:a16="http://schemas.microsoft.com/office/drawing/2014/main" id="{8DDAB5C8-4F76-65CF-D52F-8B1007A52664}"/>
              </a:ext>
            </a:extLst>
          </p:cNvPr>
          <p:cNvSpPr>
            <a:spLocks noGrp="1"/>
          </p:cNvSpPr>
          <p:nvPr>
            <p:ph type="sldNum" sz="quarter" idx="12"/>
          </p:nvPr>
        </p:nvSpPr>
        <p:spPr/>
        <p:txBody>
          <a:bodyPr/>
          <a:lstStyle/>
          <a:p>
            <a:fld id="{9EA0BE3B-158A-4EDF-80DC-E394A0D1600F}" type="slidenum">
              <a:rPr lang="en-US" smtClean="0"/>
              <a:pPr/>
              <a:t>21</a:t>
            </a:fld>
            <a:endParaRPr lang="en-US" dirty="0"/>
          </a:p>
        </p:txBody>
      </p:sp>
    </p:spTree>
    <p:extLst>
      <p:ext uri="{BB962C8B-B14F-4D97-AF65-F5344CB8AC3E}">
        <p14:creationId xmlns:p14="http://schemas.microsoft.com/office/powerpoint/2010/main" val="10003238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54687-271F-398C-435F-0A5CF375D6E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559FCC-12C2-75F4-39EB-BBE8C8D3EEA6}"/>
              </a:ext>
            </a:extLst>
          </p:cNvPr>
          <p:cNvSpPr>
            <a:spLocks noGrp="1"/>
          </p:cNvSpPr>
          <p:nvPr>
            <p:ph type="sldNum" sz="quarter" idx="12"/>
          </p:nvPr>
        </p:nvSpPr>
        <p:spPr/>
        <p:txBody>
          <a:bodyPr/>
          <a:lstStyle/>
          <a:p>
            <a:fld id="{9EA0BE3B-158A-4EDF-80DC-E394A0D1600F}" type="slidenum">
              <a:rPr lang="en-US" smtClean="0"/>
              <a:pPr/>
              <a:t>22</a:t>
            </a:fld>
            <a:endParaRPr lang="en-US" dirty="0"/>
          </a:p>
        </p:txBody>
      </p:sp>
      <p:sp>
        <p:nvSpPr>
          <p:cNvPr id="3" name="Title 2">
            <a:extLst>
              <a:ext uri="{FF2B5EF4-FFF2-40B4-BE49-F238E27FC236}">
                <a16:creationId xmlns:a16="http://schemas.microsoft.com/office/drawing/2014/main" id="{97EEDFDF-95CD-D5D5-9658-B76B2D9F959D}"/>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9FAE4235-A530-BF9C-2384-5FF1A960016F}"/>
              </a:ext>
            </a:extLst>
          </p:cNvPr>
          <p:cNvSpPr>
            <a:spLocks noGrp="1"/>
          </p:cNvSpPr>
          <p:nvPr>
            <p:ph type="body" sz="quarter" idx="13"/>
          </p:nvPr>
        </p:nvSpPr>
        <p:spPr>
          <a:xfrm>
            <a:off x="234950" y="1164920"/>
            <a:ext cx="8674100" cy="4916703"/>
          </a:xfrm>
        </p:spPr>
        <p:txBody>
          <a:bodyPr/>
          <a:lstStyle/>
          <a:p>
            <a:pPr marL="0" indent="0">
              <a:buNone/>
            </a:pPr>
            <a:r>
              <a:rPr lang="en-US" sz="2400" dirty="0" err="1"/>
              <a:t>SNRo</a:t>
            </a:r>
            <a:r>
              <a:rPr lang="en-US" sz="2400" dirty="0"/>
              <a:t> (equation 9): </a:t>
            </a:r>
          </a:p>
          <a:p>
            <a:r>
              <a:rPr lang="en-US" sz="1600" dirty="0"/>
              <a:t>ZR: </a:t>
            </a:r>
          </a:p>
          <a:p>
            <a:pPr lvl="1">
              <a:buFont typeface="Wingdings" panose="05000000000000000000" pitchFamily="2" charset="2"/>
              <a:buChar char="§"/>
            </a:pPr>
            <a:r>
              <a:rPr lang="en-US" sz="1600" dirty="0"/>
              <a:t>Real bound: [10; 1500]</a:t>
            </a:r>
          </a:p>
          <a:p>
            <a:pPr lvl="1">
              <a:buFont typeface="Wingdings" panose="05000000000000000000" pitchFamily="2" charset="2"/>
              <a:buChar char="§"/>
            </a:pPr>
            <a:r>
              <a:rPr lang="en-US" sz="1600" dirty="0"/>
              <a:t>Imaginary coefficient bound: [-1500; 1500]</a:t>
            </a:r>
          </a:p>
          <a:p>
            <a:r>
              <a:rPr lang="en-US" sz="1600" dirty="0"/>
              <a:t>ZL: </a:t>
            </a:r>
          </a:p>
          <a:p>
            <a:pPr lvl="1">
              <a:buFont typeface="Wingdings" panose="05000000000000000000" pitchFamily="2" charset="2"/>
              <a:buChar char="§"/>
            </a:pPr>
            <a:r>
              <a:rPr lang="en-US" sz="1600" dirty="0"/>
              <a:t>Real bound: [10; 1500]</a:t>
            </a:r>
          </a:p>
          <a:p>
            <a:pPr lvl="1">
              <a:buFont typeface="Wingdings" panose="05000000000000000000" pitchFamily="2" charset="2"/>
              <a:buChar char="§"/>
            </a:pPr>
            <a:r>
              <a:rPr lang="en-US" sz="1600" dirty="0"/>
              <a:t>Imaginary coefficient bound: [-1500; 1500]</a:t>
            </a:r>
          </a:p>
          <a:p>
            <a:r>
              <a:rPr lang="en-US" sz="1600" dirty="0"/>
              <a:t>Other parameters:</a:t>
            </a:r>
          </a:p>
          <a:p>
            <a:pPr lvl="1">
              <a:buFont typeface="Wingdings" panose="05000000000000000000" pitchFamily="2" charset="2"/>
              <a:buChar char="§"/>
            </a:pPr>
            <a:r>
              <a:rPr lang="en-US" sz="1600" dirty="0"/>
              <a:t>g: 10</a:t>
            </a:r>
          </a:p>
          <a:p>
            <a:pPr lvl="1">
              <a:buFont typeface="Wingdings" panose="05000000000000000000" pitchFamily="2" charset="2"/>
              <a:buChar char="§"/>
            </a:pPr>
            <a:r>
              <a:rPr lang="en-US" sz="1600" dirty="0" err="1"/>
              <a:t>Nna</a:t>
            </a:r>
            <a:r>
              <a:rPr lang="en-US" sz="1600" dirty="0"/>
              <a:t>: 1e-9</a:t>
            </a:r>
          </a:p>
          <a:p>
            <a:pPr lvl="1">
              <a:buFont typeface="Wingdings" panose="05000000000000000000" pitchFamily="2" charset="2"/>
              <a:buChar char="§"/>
            </a:pPr>
            <a:r>
              <a:rPr lang="en-US" sz="1600" dirty="0"/>
              <a:t>k: 1.38e-23</a:t>
            </a:r>
          </a:p>
          <a:p>
            <a:pPr lvl="1">
              <a:buFont typeface="Wingdings" panose="05000000000000000000" pitchFamily="2" charset="2"/>
              <a:buChar char="§"/>
            </a:pPr>
            <a:r>
              <a:rPr lang="en-US" sz="1600" dirty="0"/>
              <a:t>T: 300</a:t>
            </a:r>
          </a:p>
          <a:p>
            <a:pPr lvl="1">
              <a:buFont typeface="Wingdings" panose="05000000000000000000" pitchFamily="2" charset="2"/>
              <a:buChar char="§"/>
            </a:pPr>
            <a:r>
              <a:rPr lang="en-US" sz="1600" dirty="0"/>
              <a:t>S</a:t>
            </a:r>
            <a:r>
              <a:rPr lang="en-US" sz="1400" dirty="0"/>
              <a:t>IT</a:t>
            </a:r>
            <a:r>
              <a:rPr lang="en-US" sz="1600" dirty="0"/>
              <a:t>: 1.26e-4</a:t>
            </a:r>
          </a:p>
          <a:p>
            <a:pPr marL="457200" lvl="1" indent="0">
              <a:buNone/>
            </a:pPr>
            <a:r>
              <a:rPr lang="en-US" sz="1600" b="1" dirty="0"/>
              <a:t>=&gt; Obtained value: 91.48 dB at</a:t>
            </a:r>
          </a:p>
          <a:p>
            <a:pPr marL="457200" lvl="1" indent="0">
              <a:buNone/>
            </a:pPr>
            <a:r>
              <a:rPr lang="en-US" sz="1600" b="1" dirty="0"/>
              <a:t>ZR = 10 + 1500j</a:t>
            </a:r>
          </a:p>
          <a:p>
            <a:pPr marL="457200" lvl="1" indent="0">
              <a:buNone/>
            </a:pPr>
            <a:r>
              <a:rPr lang="en-US" sz="1600" b="1" dirty="0"/>
              <a:t>ZL = 10 - 1500j</a:t>
            </a:r>
          </a:p>
          <a:p>
            <a:pPr lvl="1">
              <a:buFont typeface="Wingdings" panose="05000000000000000000" pitchFamily="2" charset="2"/>
              <a:buChar char="§"/>
            </a:pPr>
            <a:endParaRPr lang="en-US" sz="2000" dirty="0"/>
          </a:p>
          <a:p>
            <a:pPr marL="457200" lvl="1" indent="0">
              <a:buNone/>
            </a:pPr>
            <a:endParaRPr lang="en-US" sz="2000" dirty="0"/>
          </a:p>
          <a:p>
            <a:pPr marL="457200" lvl="1" indent="0">
              <a:buNone/>
            </a:pPr>
            <a:endParaRPr lang="en-US" sz="2000" dirty="0"/>
          </a:p>
          <a:p>
            <a:pPr marL="0" indent="0">
              <a:buNone/>
            </a:pPr>
            <a:endParaRPr lang="en-US" sz="2400" dirty="0"/>
          </a:p>
        </p:txBody>
      </p:sp>
    </p:spTree>
    <p:extLst>
      <p:ext uri="{BB962C8B-B14F-4D97-AF65-F5344CB8AC3E}">
        <p14:creationId xmlns:p14="http://schemas.microsoft.com/office/powerpoint/2010/main" val="2550561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xEl>
                                              <p:pRg st="10" end="1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xEl>
                                              <p:pRg st="11" end="11"/>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xEl>
                                              <p:pRg st="12" end="12"/>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xEl>
                                              <p:pRg st="13" end="13"/>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xEl>
                                              <p:pRg st="14" end="14"/>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411A7-2785-0DAC-A4E7-C85F77CF83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B34E61-2836-5B13-3440-F394F469F5DC}"/>
              </a:ext>
            </a:extLst>
          </p:cNvPr>
          <p:cNvSpPr>
            <a:spLocks noGrp="1"/>
          </p:cNvSpPr>
          <p:nvPr>
            <p:ph type="sldNum" sz="quarter" idx="12"/>
          </p:nvPr>
        </p:nvSpPr>
        <p:spPr/>
        <p:txBody>
          <a:bodyPr/>
          <a:lstStyle/>
          <a:p>
            <a:fld id="{9EA0BE3B-158A-4EDF-80DC-E394A0D1600F}" type="slidenum">
              <a:rPr lang="en-US" smtClean="0"/>
              <a:pPr/>
              <a:t>23</a:t>
            </a:fld>
            <a:endParaRPr lang="en-US" dirty="0"/>
          </a:p>
        </p:txBody>
      </p:sp>
      <p:sp>
        <p:nvSpPr>
          <p:cNvPr id="3" name="Title 2">
            <a:extLst>
              <a:ext uri="{FF2B5EF4-FFF2-40B4-BE49-F238E27FC236}">
                <a16:creationId xmlns:a16="http://schemas.microsoft.com/office/drawing/2014/main" id="{E644C329-A565-33B4-921A-40F8D7C33C21}"/>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7D683798-6EA5-AD0D-70D6-93E7F39B7A2F}"/>
              </a:ext>
            </a:extLst>
          </p:cNvPr>
          <p:cNvSpPr>
            <a:spLocks noGrp="1"/>
          </p:cNvSpPr>
          <p:nvPr>
            <p:ph type="body" sz="quarter" idx="13"/>
          </p:nvPr>
        </p:nvSpPr>
        <p:spPr>
          <a:xfrm>
            <a:off x="234950" y="1164920"/>
            <a:ext cx="8674100" cy="5011593"/>
          </a:xfrm>
        </p:spPr>
        <p:txBody>
          <a:bodyPr/>
          <a:lstStyle/>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1600" dirty="0"/>
          </a:p>
        </p:txBody>
      </p:sp>
      <p:pic>
        <p:nvPicPr>
          <p:cNvPr id="6" name="Picture 5">
            <a:extLst>
              <a:ext uri="{FF2B5EF4-FFF2-40B4-BE49-F238E27FC236}">
                <a16:creationId xmlns:a16="http://schemas.microsoft.com/office/drawing/2014/main" id="{D21804BF-6B4F-2D85-91B6-B8531537EE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405830"/>
            <a:ext cx="9144000" cy="4046339"/>
          </a:xfrm>
          <a:prstGeom prst="rect">
            <a:avLst/>
          </a:prstGeom>
        </p:spPr>
      </p:pic>
    </p:spTree>
    <p:extLst>
      <p:ext uri="{BB962C8B-B14F-4D97-AF65-F5344CB8AC3E}">
        <p14:creationId xmlns:p14="http://schemas.microsoft.com/office/powerpoint/2010/main" val="2300580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D2F36-F08C-C3F5-15CD-9E7A0E769D6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7B7E0D0-85AA-923C-FC7A-F6D80CC9D0D8}"/>
              </a:ext>
            </a:extLst>
          </p:cNvPr>
          <p:cNvSpPr>
            <a:spLocks noGrp="1"/>
          </p:cNvSpPr>
          <p:nvPr>
            <p:ph type="sldNum" sz="quarter" idx="12"/>
          </p:nvPr>
        </p:nvSpPr>
        <p:spPr/>
        <p:txBody>
          <a:bodyPr/>
          <a:lstStyle/>
          <a:p>
            <a:fld id="{9EA0BE3B-158A-4EDF-80DC-E394A0D1600F}" type="slidenum">
              <a:rPr lang="en-US" smtClean="0"/>
              <a:pPr/>
              <a:t>24</a:t>
            </a:fld>
            <a:endParaRPr lang="en-US" dirty="0"/>
          </a:p>
        </p:txBody>
      </p:sp>
      <p:sp>
        <p:nvSpPr>
          <p:cNvPr id="3" name="Title 2">
            <a:extLst>
              <a:ext uri="{FF2B5EF4-FFF2-40B4-BE49-F238E27FC236}">
                <a16:creationId xmlns:a16="http://schemas.microsoft.com/office/drawing/2014/main" id="{DC846270-6ED0-0926-ED51-65C08F472F29}"/>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C39EDB81-F250-87BC-B534-DF802927D7DA}"/>
              </a:ext>
            </a:extLst>
          </p:cNvPr>
          <p:cNvSpPr>
            <a:spLocks noGrp="1"/>
          </p:cNvSpPr>
          <p:nvPr>
            <p:ph type="body" sz="quarter" idx="13"/>
          </p:nvPr>
        </p:nvSpPr>
        <p:spPr>
          <a:xfrm>
            <a:off x="234950" y="1164920"/>
            <a:ext cx="8674100" cy="5011593"/>
          </a:xfrm>
        </p:spPr>
        <p:txBody>
          <a:bodyPr/>
          <a:lstStyle/>
          <a:p>
            <a:pPr marL="0" indent="0">
              <a:buNone/>
            </a:pPr>
            <a:r>
              <a:rPr lang="en-US" sz="1600" dirty="0" err="1"/>
              <a:t>SNRo</a:t>
            </a:r>
            <a:r>
              <a:rPr lang="en-US" sz="1600" dirty="0"/>
              <a:t> (equation 9): </a:t>
            </a:r>
          </a:p>
          <a:p>
            <a:pPr lvl="1">
              <a:buFont typeface="Wingdings" panose="05000000000000000000" pitchFamily="2" charset="2"/>
              <a:buChar char="§"/>
            </a:pPr>
            <a:r>
              <a:rPr lang="en-US" sz="1600" dirty="0"/>
              <a:t>Real bound: [0.01; 1e9]</a:t>
            </a:r>
          </a:p>
          <a:p>
            <a:pPr lvl="1">
              <a:buFont typeface="Wingdings" panose="05000000000000000000" pitchFamily="2" charset="2"/>
              <a:buChar char="§"/>
            </a:pPr>
            <a:r>
              <a:rPr lang="en-US" sz="1600" dirty="0"/>
              <a:t>Imaginary coefficient bound: [-1500; 1500]</a:t>
            </a:r>
          </a:p>
          <a:p>
            <a:pPr lvl="1">
              <a:buFont typeface="Wingdings" panose="05000000000000000000" pitchFamily="2" charset="2"/>
              <a:buChar char="§"/>
            </a:pPr>
            <a:endParaRPr lang="en-US" sz="1600" dirty="0"/>
          </a:p>
          <a:p>
            <a:r>
              <a:rPr lang="en-US" sz="1600" dirty="0"/>
              <a:t>Other parameters:</a:t>
            </a:r>
          </a:p>
          <a:p>
            <a:pPr lvl="1">
              <a:buFont typeface="Wingdings" panose="05000000000000000000" pitchFamily="2" charset="2"/>
              <a:buChar char="§"/>
            </a:pPr>
            <a:r>
              <a:rPr lang="en-US" sz="1600" dirty="0"/>
              <a:t>g: 10</a:t>
            </a:r>
          </a:p>
          <a:p>
            <a:pPr lvl="1">
              <a:buFont typeface="Wingdings" panose="05000000000000000000" pitchFamily="2" charset="2"/>
              <a:buChar char="§"/>
            </a:pPr>
            <a:r>
              <a:rPr lang="en-US" sz="1600" dirty="0" err="1"/>
              <a:t>Nna</a:t>
            </a:r>
            <a:r>
              <a:rPr lang="en-US" sz="1600" dirty="0"/>
              <a:t>: 1e-9</a:t>
            </a:r>
          </a:p>
          <a:p>
            <a:pPr lvl="1">
              <a:buFont typeface="Wingdings" panose="05000000000000000000" pitchFamily="2" charset="2"/>
              <a:buChar char="§"/>
            </a:pPr>
            <a:r>
              <a:rPr lang="en-US" sz="1600" dirty="0"/>
              <a:t>k: 1.38e-23</a:t>
            </a:r>
          </a:p>
          <a:p>
            <a:pPr lvl="1">
              <a:buFont typeface="Wingdings" panose="05000000000000000000" pitchFamily="2" charset="2"/>
              <a:buChar char="§"/>
            </a:pPr>
            <a:r>
              <a:rPr lang="en-US" sz="1600" dirty="0"/>
              <a:t>T: 300</a:t>
            </a:r>
          </a:p>
          <a:p>
            <a:pPr lvl="1">
              <a:buFont typeface="Wingdings" panose="05000000000000000000" pitchFamily="2" charset="2"/>
              <a:buChar char="§"/>
            </a:pPr>
            <a:r>
              <a:rPr lang="en-US" sz="1600" dirty="0"/>
              <a:t>S</a:t>
            </a:r>
            <a:r>
              <a:rPr lang="en-US" sz="1400" dirty="0"/>
              <a:t>IT</a:t>
            </a:r>
            <a:r>
              <a:rPr lang="en-US" sz="1600" dirty="0"/>
              <a:t>: 1.26e-4</a:t>
            </a:r>
          </a:p>
          <a:p>
            <a:pPr lvl="1">
              <a:buFont typeface="Wingdings" panose="05000000000000000000" pitchFamily="2" charset="2"/>
              <a:buChar char="§"/>
            </a:pPr>
            <a:endParaRPr lang="en-US" sz="1600" dirty="0"/>
          </a:p>
          <a:p>
            <a:pPr marL="457200" lvl="1" indent="0">
              <a:buNone/>
            </a:pPr>
            <a:r>
              <a:rPr lang="en-US" sz="1600" b="1" dirty="0"/>
              <a:t>=&gt; Obtained value: 53.98 dB at</a:t>
            </a:r>
          </a:p>
          <a:p>
            <a:pPr marL="457200" lvl="1" indent="0">
              <a:buNone/>
            </a:pPr>
            <a:r>
              <a:rPr lang="en-US" sz="1600" b="1" dirty="0"/>
              <a:t>ZR = 0.01 + 1352.14j </a:t>
            </a:r>
          </a:p>
          <a:p>
            <a:pPr marL="457200" lvl="1" indent="0">
              <a:buNone/>
            </a:pPr>
            <a:r>
              <a:rPr lang="en-US" sz="1600" b="1" dirty="0"/>
              <a:t>ZL = 1e9 + 295.98j</a:t>
            </a:r>
            <a:endParaRPr lang="en-US" sz="1600" dirty="0"/>
          </a:p>
          <a:p>
            <a:pPr lvl="1">
              <a:buFont typeface="Wingdings" panose="05000000000000000000" pitchFamily="2" charset="2"/>
              <a:buChar char="§"/>
            </a:pPr>
            <a:endParaRPr lang="en-US" sz="1600" dirty="0"/>
          </a:p>
          <a:p>
            <a:pPr marL="457200" lvl="1" indent="0">
              <a:buNone/>
            </a:pPr>
            <a:endParaRPr lang="en-US" sz="1600" dirty="0"/>
          </a:p>
          <a:p>
            <a:pPr marL="457200" lvl="1" indent="0">
              <a:buNone/>
            </a:pPr>
            <a:endParaRPr lang="en-US" sz="1600" dirty="0"/>
          </a:p>
          <a:p>
            <a:pPr marL="0" indent="0">
              <a:buNone/>
            </a:pPr>
            <a:endParaRPr lang="en-US" sz="2400" dirty="0"/>
          </a:p>
        </p:txBody>
      </p:sp>
    </p:spTree>
    <p:extLst>
      <p:ext uri="{BB962C8B-B14F-4D97-AF65-F5344CB8AC3E}">
        <p14:creationId xmlns:p14="http://schemas.microsoft.com/office/powerpoint/2010/main" val="508808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11" end="11"/>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12" end="12"/>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E69DC-0BAE-BBFA-A92A-BF77C2A1E9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4AA620-8B60-43A0-43F8-F9D8148AFBFD}"/>
              </a:ext>
            </a:extLst>
          </p:cNvPr>
          <p:cNvSpPr>
            <a:spLocks noGrp="1"/>
          </p:cNvSpPr>
          <p:nvPr>
            <p:ph type="sldNum" sz="quarter" idx="12"/>
          </p:nvPr>
        </p:nvSpPr>
        <p:spPr/>
        <p:txBody>
          <a:bodyPr/>
          <a:lstStyle/>
          <a:p>
            <a:fld id="{9EA0BE3B-158A-4EDF-80DC-E394A0D1600F}" type="slidenum">
              <a:rPr lang="en-US" smtClean="0"/>
              <a:pPr/>
              <a:t>25</a:t>
            </a:fld>
            <a:endParaRPr lang="en-US" dirty="0"/>
          </a:p>
        </p:txBody>
      </p:sp>
      <p:sp>
        <p:nvSpPr>
          <p:cNvPr id="3" name="Title 2">
            <a:extLst>
              <a:ext uri="{FF2B5EF4-FFF2-40B4-BE49-F238E27FC236}">
                <a16:creationId xmlns:a16="http://schemas.microsoft.com/office/drawing/2014/main" id="{CEA62098-DCC7-50CB-2EDA-3D49A0225221}"/>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54DF4A79-1A65-9379-84E4-2740EB31B1C4}"/>
              </a:ext>
            </a:extLst>
          </p:cNvPr>
          <p:cNvSpPr>
            <a:spLocks noGrp="1"/>
          </p:cNvSpPr>
          <p:nvPr>
            <p:ph type="body" sz="quarter" idx="13"/>
          </p:nvPr>
        </p:nvSpPr>
        <p:spPr>
          <a:xfrm>
            <a:off x="234950" y="1164920"/>
            <a:ext cx="8674100" cy="5011593"/>
          </a:xfrm>
        </p:spPr>
        <p:txBody>
          <a:bodyPr/>
          <a:lstStyle/>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1600" dirty="0"/>
          </a:p>
        </p:txBody>
      </p:sp>
      <p:pic>
        <p:nvPicPr>
          <p:cNvPr id="5" name="Picture 4">
            <a:extLst>
              <a:ext uri="{FF2B5EF4-FFF2-40B4-BE49-F238E27FC236}">
                <a16:creationId xmlns:a16="http://schemas.microsoft.com/office/drawing/2014/main" id="{CAF89CA1-FCC4-F959-0FDE-4C1DE329A164}"/>
              </a:ext>
            </a:extLst>
          </p:cNvPr>
          <p:cNvPicPr>
            <a:picLocks noChangeAspect="1"/>
          </p:cNvPicPr>
          <p:nvPr/>
        </p:nvPicPr>
        <p:blipFill>
          <a:blip r:embed="rId2"/>
          <a:stretch>
            <a:fillRect/>
          </a:stretch>
        </p:blipFill>
        <p:spPr>
          <a:xfrm>
            <a:off x="0" y="1522386"/>
            <a:ext cx="9144000" cy="4296660"/>
          </a:xfrm>
          <a:prstGeom prst="rect">
            <a:avLst/>
          </a:prstGeom>
        </p:spPr>
      </p:pic>
      <p:pic>
        <p:nvPicPr>
          <p:cNvPr id="6" name="Picture 5">
            <a:extLst>
              <a:ext uri="{FF2B5EF4-FFF2-40B4-BE49-F238E27FC236}">
                <a16:creationId xmlns:a16="http://schemas.microsoft.com/office/drawing/2014/main" id="{AB54B6AA-DB18-98A3-F1E1-F2DB16269A83}"/>
              </a:ext>
            </a:extLst>
          </p:cNvPr>
          <p:cNvPicPr>
            <a:picLocks noChangeAspect="1"/>
          </p:cNvPicPr>
          <p:nvPr/>
        </p:nvPicPr>
        <p:blipFill>
          <a:blip r:embed="rId3"/>
          <a:stretch>
            <a:fillRect/>
          </a:stretch>
        </p:blipFill>
        <p:spPr>
          <a:xfrm>
            <a:off x="0" y="1164919"/>
            <a:ext cx="9144000" cy="4598207"/>
          </a:xfrm>
          <a:prstGeom prst="rect">
            <a:avLst/>
          </a:prstGeom>
        </p:spPr>
      </p:pic>
    </p:spTree>
    <p:extLst>
      <p:ext uri="{BB962C8B-B14F-4D97-AF65-F5344CB8AC3E}">
        <p14:creationId xmlns:p14="http://schemas.microsoft.com/office/powerpoint/2010/main" val="37803291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391A7-B8CA-9225-FC8B-24A92A667D5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A1A4CF-FD77-45EF-2240-1E1B800259AB}"/>
              </a:ext>
            </a:extLst>
          </p:cNvPr>
          <p:cNvSpPr>
            <a:spLocks noGrp="1"/>
          </p:cNvSpPr>
          <p:nvPr>
            <p:ph type="sldNum" sz="quarter" idx="12"/>
          </p:nvPr>
        </p:nvSpPr>
        <p:spPr/>
        <p:txBody>
          <a:bodyPr/>
          <a:lstStyle/>
          <a:p>
            <a:fld id="{9EA0BE3B-158A-4EDF-80DC-E394A0D1600F}" type="slidenum">
              <a:rPr lang="en-US" smtClean="0"/>
              <a:pPr/>
              <a:t>26</a:t>
            </a:fld>
            <a:endParaRPr lang="en-US" dirty="0"/>
          </a:p>
        </p:txBody>
      </p:sp>
      <p:sp>
        <p:nvSpPr>
          <p:cNvPr id="3" name="Title 2">
            <a:extLst>
              <a:ext uri="{FF2B5EF4-FFF2-40B4-BE49-F238E27FC236}">
                <a16:creationId xmlns:a16="http://schemas.microsoft.com/office/drawing/2014/main" id="{C0F0051B-586B-4631-4EC2-6C6F22CDD737}"/>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47F72E53-692F-9F34-3D17-6206CC301380}"/>
              </a:ext>
            </a:extLst>
          </p:cNvPr>
          <p:cNvSpPr>
            <a:spLocks noGrp="1"/>
          </p:cNvSpPr>
          <p:nvPr>
            <p:ph type="body" sz="quarter" idx="13"/>
          </p:nvPr>
        </p:nvSpPr>
        <p:spPr>
          <a:xfrm>
            <a:off x="234950" y="1164920"/>
            <a:ext cx="8674100" cy="5011593"/>
          </a:xfrm>
        </p:spPr>
        <p:txBody>
          <a:bodyPr/>
          <a:lstStyle/>
          <a:p>
            <a:pPr marL="0" indent="0">
              <a:buNone/>
            </a:pPr>
            <a:endParaRPr lang="en-US" sz="1600" dirty="0"/>
          </a:p>
          <a:p>
            <a:pPr marL="0" indent="0">
              <a:buNone/>
            </a:pPr>
            <a:endParaRPr lang="en-US" sz="1600" dirty="0"/>
          </a:p>
          <a:p>
            <a:pPr marL="0" indent="0">
              <a:buNone/>
            </a:pPr>
            <a:endParaRPr lang="en-US" sz="1600" dirty="0"/>
          </a:p>
          <a:p>
            <a:pPr marL="0" indent="0">
              <a:buNone/>
            </a:pPr>
            <a:r>
              <a:rPr lang="en-US" sz="1600" dirty="0"/>
              <a:t>G (equation 18): </a:t>
            </a:r>
          </a:p>
          <a:p>
            <a:r>
              <a:rPr lang="en-US" sz="1600" dirty="0"/>
              <a:t>R</a:t>
            </a:r>
            <a:r>
              <a:rPr lang="en-US" sz="1400" dirty="0"/>
              <a:t>s</a:t>
            </a:r>
            <a:r>
              <a:rPr lang="en-US" sz="1600" dirty="0"/>
              <a:t> ∈ [0.01, 1e6]</a:t>
            </a:r>
          </a:p>
          <a:p>
            <a:r>
              <a:rPr lang="en-US" sz="1600" dirty="0"/>
              <a:t>R</a:t>
            </a:r>
            <a:r>
              <a:rPr lang="en-US" sz="1400" dirty="0"/>
              <a:t>L</a:t>
            </a:r>
            <a:r>
              <a:rPr lang="en-US" sz="1600" dirty="0"/>
              <a:t> ∈</a:t>
            </a:r>
            <a:r>
              <a:rPr lang="en-US" sz="1600" b="1" dirty="0"/>
              <a:t> </a:t>
            </a:r>
            <a:r>
              <a:rPr lang="en-US" sz="1600" dirty="0"/>
              <a:t>[0.01, 1e9]</a:t>
            </a:r>
          </a:p>
          <a:p>
            <a:r>
              <a:rPr lang="en-US" sz="1600" dirty="0"/>
              <a:t>Other parameters:</a:t>
            </a:r>
          </a:p>
          <a:p>
            <a:r>
              <a:rPr lang="en-US" sz="1600" dirty="0"/>
              <a:t>Other parameters:</a:t>
            </a:r>
          </a:p>
          <a:p>
            <a:pPr lvl="1">
              <a:buFont typeface="Wingdings" panose="05000000000000000000" pitchFamily="2" charset="2"/>
              <a:buChar char="§"/>
            </a:pPr>
            <a:r>
              <a:rPr lang="en-US" sz="1600" dirty="0"/>
              <a:t>g: 10</a:t>
            </a:r>
          </a:p>
          <a:p>
            <a:pPr lvl="1">
              <a:buFont typeface="Wingdings" panose="05000000000000000000" pitchFamily="2" charset="2"/>
              <a:buChar char="§"/>
            </a:pPr>
            <a:r>
              <a:rPr lang="en-US" sz="1600" dirty="0"/>
              <a:t>R</a:t>
            </a:r>
            <a:r>
              <a:rPr lang="en-US" sz="1400" dirty="0"/>
              <a:t>s</a:t>
            </a:r>
            <a:r>
              <a:rPr lang="en-US" sz="1600" dirty="0"/>
              <a:t>: 50</a:t>
            </a:r>
            <a:r>
              <a:rPr lang="el-GR" sz="1600" dirty="0"/>
              <a:t> Ω</a:t>
            </a:r>
            <a:endParaRPr lang="en-US" sz="1600" dirty="0"/>
          </a:p>
          <a:p>
            <a:pPr marL="457200" lvl="1" indent="0">
              <a:buNone/>
            </a:pPr>
            <a:endParaRPr lang="en-US" sz="1600" dirty="0"/>
          </a:p>
          <a:p>
            <a:pPr lvl="1">
              <a:buFont typeface="Symbol" panose="05050102010706020507" pitchFamily="18" charset="2"/>
              <a:buChar char="Þ"/>
            </a:pPr>
            <a:r>
              <a:rPr lang="en-US" sz="1600" b="1" dirty="0"/>
              <a:t>Optimal Gain: 63.00 dB | Rs = 1000000.00 Ω | </a:t>
            </a:r>
            <a:r>
              <a:rPr lang="en-US" sz="1600" b="1" dirty="0" err="1"/>
              <a:t>Rl</a:t>
            </a:r>
            <a:r>
              <a:rPr lang="en-US" sz="1600" b="1" dirty="0"/>
              <a:t> = 1000000000.00 Ω</a:t>
            </a:r>
            <a:endParaRPr lang="en-US" sz="2400" dirty="0"/>
          </a:p>
        </p:txBody>
      </p:sp>
    </p:spTree>
    <p:extLst>
      <p:ext uri="{BB962C8B-B14F-4D97-AF65-F5344CB8AC3E}">
        <p14:creationId xmlns:p14="http://schemas.microsoft.com/office/powerpoint/2010/main" val="3906168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A447A-0803-7529-DDBC-0AAD7A23616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6F6003-3DAA-0716-FC87-C30272EB373E}"/>
              </a:ext>
            </a:extLst>
          </p:cNvPr>
          <p:cNvSpPr>
            <a:spLocks noGrp="1"/>
          </p:cNvSpPr>
          <p:nvPr>
            <p:ph type="sldNum" sz="quarter" idx="12"/>
          </p:nvPr>
        </p:nvSpPr>
        <p:spPr/>
        <p:txBody>
          <a:bodyPr/>
          <a:lstStyle/>
          <a:p>
            <a:fld id="{9EA0BE3B-158A-4EDF-80DC-E394A0D1600F}" type="slidenum">
              <a:rPr lang="en-US" smtClean="0"/>
              <a:pPr/>
              <a:t>27</a:t>
            </a:fld>
            <a:endParaRPr lang="en-US" dirty="0"/>
          </a:p>
        </p:txBody>
      </p:sp>
      <p:sp>
        <p:nvSpPr>
          <p:cNvPr id="3" name="Title 2">
            <a:extLst>
              <a:ext uri="{FF2B5EF4-FFF2-40B4-BE49-F238E27FC236}">
                <a16:creationId xmlns:a16="http://schemas.microsoft.com/office/drawing/2014/main" id="{1D153947-87E0-E987-ACE8-B319671744C4}"/>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302D1939-D42E-A012-659D-22CBCC902102}"/>
              </a:ext>
            </a:extLst>
          </p:cNvPr>
          <p:cNvSpPr>
            <a:spLocks noGrp="1"/>
          </p:cNvSpPr>
          <p:nvPr>
            <p:ph type="body" sz="quarter" idx="13"/>
          </p:nvPr>
        </p:nvSpPr>
        <p:spPr>
          <a:xfrm>
            <a:off x="234950" y="1164920"/>
            <a:ext cx="8674100" cy="5011593"/>
          </a:xfrm>
        </p:spPr>
        <p:txBody>
          <a:bodyPr/>
          <a:lstStyle/>
          <a:p>
            <a:pPr marL="0" indent="0">
              <a:buNone/>
            </a:pPr>
            <a:endParaRPr lang="en-US" sz="1600" dirty="0"/>
          </a:p>
          <a:p>
            <a:pPr marL="0" indent="0">
              <a:buNone/>
            </a:pPr>
            <a:endParaRPr lang="en-US" sz="1600" dirty="0"/>
          </a:p>
          <a:p>
            <a:pPr marL="0" indent="0">
              <a:buNone/>
            </a:pPr>
            <a:endParaRPr lang="en-US" sz="1600" dirty="0"/>
          </a:p>
          <a:p>
            <a:pPr marL="457200" lvl="1" indent="0">
              <a:buNone/>
            </a:pPr>
            <a:endParaRPr lang="en-US" sz="1600" dirty="0"/>
          </a:p>
          <a:p>
            <a:pPr marL="457200" lvl="1" indent="0">
              <a:buNone/>
            </a:pPr>
            <a:endParaRPr lang="en-US" sz="1600" dirty="0"/>
          </a:p>
          <a:p>
            <a:pPr marL="0" indent="0">
              <a:buNone/>
            </a:pPr>
            <a:endParaRPr lang="en-US" sz="2400" dirty="0"/>
          </a:p>
        </p:txBody>
      </p:sp>
      <p:pic>
        <p:nvPicPr>
          <p:cNvPr id="6" name="Picture 5">
            <a:extLst>
              <a:ext uri="{FF2B5EF4-FFF2-40B4-BE49-F238E27FC236}">
                <a16:creationId xmlns:a16="http://schemas.microsoft.com/office/drawing/2014/main" id="{8B6D9F25-8699-0473-A20D-D3D1F3DB49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6622" y="1114039"/>
            <a:ext cx="5190755" cy="4629921"/>
          </a:xfrm>
          <a:prstGeom prst="rect">
            <a:avLst/>
          </a:prstGeom>
        </p:spPr>
      </p:pic>
    </p:spTree>
    <p:extLst>
      <p:ext uri="{BB962C8B-B14F-4D97-AF65-F5344CB8AC3E}">
        <p14:creationId xmlns:p14="http://schemas.microsoft.com/office/powerpoint/2010/main" val="24455946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7680B-5539-AD4D-287C-8CD23C1C8B0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28E824B-D69C-1624-6DC1-2E1D947226EE}"/>
              </a:ext>
            </a:extLst>
          </p:cNvPr>
          <p:cNvSpPr>
            <a:spLocks noGrp="1"/>
          </p:cNvSpPr>
          <p:nvPr>
            <p:ph type="sldNum" sz="quarter" idx="12"/>
          </p:nvPr>
        </p:nvSpPr>
        <p:spPr/>
        <p:txBody>
          <a:bodyPr/>
          <a:lstStyle/>
          <a:p>
            <a:fld id="{9EA0BE3B-158A-4EDF-80DC-E394A0D1600F}" type="slidenum">
              <a:rPr lang="en-US" smtClean="0"/>
              <a:pPr/>
              <a:t>28</a:t>
            </a:fld>
            <a:endParaRPr lang="en-US" dirty="0"/>
          </a:p>
        </p:txBody>
      </p:sp>
      <p:sp>
        <p:nvSpPr>
          <p:cNvPr id="3" name="Title 2">
            <a:extLst>
              <a:ext uri="{FF2B5EF4-FFF2-40B4-BE49-F238E27FC236}">
                <a16:creationId xmlns:a16="http://schemas.microsoft.com/office/drawing/2014/main" id="{909AEA11-87A4-9BB7-DA10-77F3BFA9680B}"/>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EF438F24-68CF-0A0D-9592-AF9567A5F026}"/>
              </a:ext>
            </a:extLst>
          </p:cNvPr>
          <p:cNvSpPr>
            <a:spLocks noGrp="1"/>
          </p:cNvSpPr>
          <p:nvPr>
            <p:ph type="body" sz="quarter" idx="13"/>
          </p:nvPr>
        </p:nvSpPr>
        <p:spPr>
          <a:xfrm>
            <a:off x="234950" y="1164920"/>
            <a:ext cx="8674100" cy="5011593"/>
          </a:xfrm>
        </p:spPr>
        <p:txBody>
          <a:bodyPr/>
          <a:lstStyle/>
          <a:p>
            <a:pPr marL="0" indent="0">
              <a:buNone/>
            </a:pPr>
            <a:endParaRPr lang="en-US" sz="1600" dirty="0"/>
          </a:p>
          <a:p>
            <a:pPr marL="0" indent="0">
              <a:buNone/>
            </a:pPr>
            <a:endParaRPr lang="en-US" sz="1600" dirty="0"/>
          </a:p>
          <a:p>
            <a:pPr marL="0" indent="0">
              <a:buNone/>
            </a:pPr>
            <a:endParaRPr lang="en-US" sz="1600" dirty="0"/>
          </a:p>
          <a:p>
            <a:pPr marL="0" indent="0">
              <a:buNone/>
            </a:pPr>
            <a:r>
              <a:rPr lang="en-US" sz="1600" dirty="0"/>
              <a:t>G (equation 18): </a:t>
            </a:r>
          </a:p>
          <a:p>
            <a:r>
              <a:rPr lang="en-US" sz="1600" dirty="0"/>
              <a:t>R</a:t>
            </a:r>
            <a:r>
              <a:rPr lang="en-US" sz="1400" dirty="0"/>
              <a:t>s</a:t>
            </a:r>
            <a:r>
              <a:rPr lang="en-US" sz="1600" dirty="0"/>
              <a:t> = 100 </a:t>
            </a:r>
            <a:r>
              <a:rPr lang="el-GR" sz="1600" dirty="0"/>
              <a:t>Ω</a:t>
            </a:r>
            <a:endParaRPr lang="en-US" sz="1600" dirty="0"/>
          </a:p>
          <a:p>
            <a:r>
              <a:rPr lang="en-US" sz="1600" dirty="0"/>
              <a:t>R</a:t>
            </a:r>
            <a:r>
              <a:rPr lang="en-US" sz="1400" dirty="0"/>
              <a:t>L</a:t>
            </a:r>
            <a:r>
              <a:rPr lang="en-US" sz="1600" dirty="0"/>
              <a:t> ∈</a:t>
            </a:r>
            <a:r>
              <a:rPr lang="en-US" sz="1600" b="1" dirty="0"/>
              <a:t> </a:t>
            </a:r>
            <a:r>
              <a:rPr lang="en-US" sz="1600" dirty="0"/>
              <a:t>[0.01, 1e9]</a:t>
            </a:r>
          </a:p>
          <a:p>
            <a:r>
              <a:rPr lang="en-US" sz="1600" dirty="0"/>
              <a:t>Other parameters:</a:t>
            </a:r>
          </a:p>
          <a:p>
            <a:r>
              <a:rPr lang="en-US" sz="1600" dirty="0"/>
              <a:t>Other parameters:</a:t>
            </a:r>
          </a:p>
          <a:p>
            <a:pPr lvl="1">
              <a:buFont typeface="Wingdings" panose="05000000000000000000" pitchFamily="2" charset="2"/>
              <a:buChar char="§"/>
            </a:pPr>
            <a:r>
              <a:rPr lang="en-US" sz="1600" dirty="0"/>
              <a:t>g: 10</a:t>
            </a:r>
          </a:p>
          <a:p>
            <a:pPr lvl="1">
              <a:buFont typeface="Wingdings" panose="05000000000000000000" pitchFamily="2" charset="2"/>
              <a:buChar char="§"/>
            </a:pPr>
            <a:r>
              <a:rPr lang="en-US" sz="1600" dirty="0"/>
              <a:t>R</a:t>
            </a:r>
            <a:r>
              <a:rPr lang="en-US" sz="1400" dirty="0"/>
              <a:t>s</a:t>
            </a:r>
            <a:r>
              <a:rPr lang="en-US" sz="1600" dirty="0"/>
              <a:t>: 50</a:t>
            </a:r>
            <a:r>
              <a:rPr lang="el-GR" sz="1600" dirty="0"/>
              <a:t> Ω</a:t>
            </a:r>
            <a:endParaRPr lang="en-US" sz="1600" dirty="0"/>
          </a:p>
          <a:p>
            <a:pPr marL="457200" lvl="1" indent="0">
              <a:buNone/>
            </a:pPr>
            <a:endParaRPr lang="en-US" sz="1600" dirty="0"/>
          </a:p>
          <a:p>
            <a:pPr lvl="1">
              <a:buFont typeface="Symbol" panose="05050102010706020507" pitchFamily="18" charset="2"/>
              <a:buChar char="Þ"/>
            </a:pPr>
            <a:r>
              <a:rPr lang="en-US" sz="1600" b="1" dirty="0"/>
              <a:t>Optimal Gain (Fixed Rs): 23.01 dB | </a:t>
            </a:r>
            <a:r>
              <a:rPr lang="en-US" sz="1600" b="1" dirty="0" err="1"/>
              <a:t>Rl</a:t>
            </a:r>
            <a:r>
              <a:rPr lang="en-US" sz="1600" b="1" dirty="0"/>
              <a:t> = 1000000000.00 Ω</a:t>
            </a:r>
            <a:endParaRPr lang="en-US" sz="2400" dirty="0"/>
          </a:p>
        </p:txBody>
      </p:sp>
    </p:spTree>
    <p:extLst>
      <p:ext uri="{BB962C8B-B14F-4D97-AF65-F5344CB8AC3E}">
        <p14:creationId xmlns:p14="http://schemas.microsoft.com/office/powerpoint/2010/main" val="3180882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CAA26-C257-C276-1E03-36D64456566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F3051D-4A71-C83B-22F4-99A90F7D4B0A}"/>
              </a:ext>
            </a:extLst>
          </p:cNvPr>
          <p:cNvSpPr>
            <a:spLocks noGrp="1"/>
          </p:cNvSpPr>
          <p:nvPr>
            <p:ph type="sldNum" sz="quarter" idx="12"/>
          </p:nvPr>
        </p:nvSpPr>
        <p:spPr/>
        <p:txBody>
          <a:bodyPr/>
          <a:lstStyle/>
          <a:p>
            <a:fld id="{9EA0BE3B-158A-4EDF-80DC-E394A0D1600F}" type="slidenum">
              <a:rPr lang="en-US" smtClean="0"/>
              <a:pPr/>
              <a:t>29</a:t>
            </a:fld>
            <a:endParaRPr lang="en-US" dirty="0"/>
          </a:p>
        </p:txBody>
      </p:sp>
      <p:sp>
        <p:nvSpPr>
          <p:cNvPr id="3" name="Title 2">
            <a:extLst>
              <a:ext uri="{FF2B5EF4-FFF2-40B4-BE49-F238E27FC236}">
                <a16:creationId xmlns:a16="http://schemas.microsoft.com/office/drawing/2014/main" id="{E8208ACD-508D-67F0-EED5-1FE9E2444555}"/>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DE43E642-814A-1EF4-CA69-316698C1D311}"/>
              </a:ext>
            </a:extLst>
          </p:cNvPr>
          <p:cNvSpPr>
            <a:spLocks noGrp="1"/>
          </p:cNvSpPr>
          <p:nvPr>
            <p:ph type="body" sz="quarter" idx="13"/>
          </p:nvPr>
        </p:nvSpPr>
        <p:spPr>
          <a:xfrm>
            <a:off x="234950" y="1164920"/>
            <a:ext cx="8674100" cy="5011593"/>
          </a:xfrm>
        </p:spPr>
        <p:txBody>
          <a:bodyPr/>
          <a:lstStyle/>
          <a:p>
            <a:pPr marL="0" indent="0">
              <a:buNone/>
            </a:pPr>
            <a:endParaRPr lang="en-US" sz="1600" dirty="0"/>
          </a:p>
          <a:p>
            <a:pPr marL="0" indent="0">
              <a:buNone/>
            </a:pPr>
            <a:endParaRPr lang="en-US" sz="1600" dirty="0"/>
          </a:p>
          <a:p>
            <a:pPr marL="0" indent="0">
              <a:buNone/>
            </a:pPr>
            <a:endParaRPr lang="en-US" sz="1600" dirty="0"/>
          </a:p>
          <a:p>
            <a:pPr marL="457200" lvl="1" indent="0">
              <a:buNone/>
            </a:pPr>
            <a:endParaRPr lang="en-US" sz="1600" dirty="0"/>
          </a:p>
          <a:p>
            <a:pPr marL="457200" lvl="1" indent="0">
              <a:buNone/>
            </a:pPr>
            <a:endParaRPr lang="en-US" sz="1600" dirty="0"/>
          </a:p>
          <a:p>
            <a:pPr marL="0" indent="0">
              <a:buNone/>
            </a:pPr>
            <a:endParaRPr lang="en-US" sz="2400" dirty="0"/>
          </a:p>
        </p:txBody>
      </p:sp>
      <p:pic>
        <p:nvPicPr>
          <p:cNvPr id="6" name="Picture 5">
            <a:extLst>
              <a:ext uri="{FF2B5EF4-FFF2-40B4-BE49-F238E27FC236}">
                <a16:creationId xmlns:a16="http://schemas.microsoft.com/office/drawing/2014/main" id="{084522AF-83D5-957C-F85C-53D2C179BA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597" y="922015"/>
            <a:ext cx="7098806" cy="5013970"/>
          </a:xfrm>
          <a:prstGeom prst="rect">
            <a:avLst/>
          </a:prstGeom>
        </p:spPr>
      </p:pic>
    </p:spTree>
    <p:extLst>
      <p:ext uri="{BB962C8B-B14F-4D97-AF65-F5344CB8AC3E}">
        <p14:creationId xmlns:p14="http://schemas.microsoft.com/office/powerpoint/2010/main" val="18300533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18BC0-8883-7B72-86B0-881BB9543FA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2DADA6C-1B1A-391E-D4BE-0955E4C76E61}"/>
              </a:ext>
            </a:extLst>
          </p:cNvPr>
          <p:cNvSpPr>
            <a:spLocks noGrp="1"/>
          </p:cNvSpPr>
          <p:nvPr>
            <p:ph type="sldNum" sz="quarter" idx="12"/>
          </p:nvPr>
        </p:nvSpPr>
        <p:spPr/>
        <p:txBody>
          <a:bodyPr/>
          <a:lstStyle/>
          <a:p>
            <a:fld id="{9EA0BE3B-158A-4EDF-80DC-E394A0D1600F}" type="slidenum">
              <a:rPr lang="en-US" smtClean="0"/>
              <a:pPr/>
              <a:t>30</a:t>
            </a:fld>
            <a:endParaRPr lang="en-US" dirty="0"/>
          </a:p>
        </p:txBody>
      </p:sp>
      <p:sp>
        <p:nvSpPr>
          <p:cNvPr id="3" name="Title 2">
            <a:extLst>
              <a:ext uri="{FF2B5EF4-FFF2-40B4-BE49-F238E27FC236}">
                <a16:creationId xmlns:a16="http://schemas.microsoft.com/office/drawing/2014/main" id="{587D18BF-E5E0-6AF5-7281-F7C1B3AC257E}"/>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C65CB97C-593D-4C9E-16EA-8C88E5261A80}"/>
              </a:ext>
            </a:extLst>
          </p:cNvPr>
          <p:cNvSpPr>
            <a:spLocks noGrp="1"/>
          </p:cNvSpPr>
          <p:nvPr>
            <p:ph type="body" sz="quarter" idx="13"/>
          </p:nvPr>
        </p:nvSpPr>
        <p:spPr>
          <a:xfrm>
            <a:off x="234950" y="1164920"/>
            <a:ext cx="8674100" cy="5011593"/>
          </a:xfrm>
        </p:spPr>
        <p:txBody>
          <a:bodyPr/>
          <a:lstStyle/>
          <a:p>
            <a:pPr marL="0" indent="0">
              <a:buNone/>
            </a:pPr>
            <a:endParaRPr lang="en-US" sz="1600" dirty="0"/>
          </a:p>
          <a:p>
            <a:pPr marL="0" indent="0">
              <a:buNone/>
            </a:pPr>
            <a:endParaRPr lang="en-US" sz="1600" dirty="0"/>
          </a:p>
          <a:p>
            <a:pPr marL="0" indent="0">
              <a:buNone/>
            </a:pPr>
            <a:r>
              <a:rPr lang="en-US" sz="1600" dirty="0" err="1"/>
              <a:t>SNRo</a:t>
            </a:r>
            <a:r>
              <a:rPr lang="en-US" sz="1600" dirty="0"/>
              <a:t> (equation 20): </a:t>
            </a:r>
          </a:p>
          <a:p>
            <a:r>
              <a:rPr lang="en-US" sz="1600" dirty="0"/>
              <a:t>R</a:t>
            </a:r>
            <a:r>
              <a:rPr lang="en-US" sz="1400" dirty="0"/>
              <a:t>s</a:t>
            </a:r>
            <a:r>
              <a:rPr lang="en-US" sz="1600" dirty="0"/>
              <a:t> ∈</a:t>
            </a:r>
            <a:r>
              <a:rPr lang="en-US" sz="1600" b="1" dirty="0"/>
              <a:t> </a:t>
            </a:r>
            <a:r>
              <a:rPr lang="en-US" sz="1600" dirty="0"/>
              <a:t>[0.01; 1e6]</a:t>
            </a:r>
          </a:p>
          <a:p>
            <a:r>
              <a:rPr lang="en-US" sz="1600" dirty="0"/>
              <a:t>R</a:t>
            </a:r>
            <a:r>
              <a:rPr lang="en-US" sz="1400" dirty="0"/>
              <a:t>L</a:t>
            </a:r>
            <a:r>
              <a:rPr lang="en-US" sz="1600" dirty="0"/>
              <a:t> ∈</a:t>
            </a:r>
            <a:r>
              <a:rPr lang="en-US" sz="1600" b="1" dirty="0"/>
              <a:t> </a:t>
            </a:r>
            <a:r>
              <a:rPr lang="en-US" sz="1600" dirty="0"/>
              <a:t>[0.01; 1e9]</a:t>
            </a:r>
          </a:p>
          <a:p>
            <a:r>
              <a:rPr lang="en-US" sz="1600" dirty="0"/>
              <a:t>Other parameters:</a:t>
            </a:r>
          </a:p>
          <a:p>
            <a:pPr lvl="1">
              <a:buFont typeface="Wingdings" panose="05000000000000000000" pitchFamily="2" charset="2"/>
              <a:buChar char="§"/>
            </a:pPr>
            <a:r>
              <a:rPr lang="vi-VN" sz="1600" dirty="0" err="1"/>
              <a:t>Vs</a:t>
            </a:r>
            <a:r>
              <a:rPr lang="vi-VN" sz="1600" dirty="0"/>
              <a:t> = 1.0 </a:t>
            </a:r>
            <a:r>
              <a:rPr lang="en-US" sz="1600" dirty="0"/>
              <a:t>V</a:t>
            </a:r>
            <a:endParaRPr lang="vi-VN" sz="1600" dirty="0"/>
          </a:p>
          <a:p>
            <a:pPr lvl="1">
              <a:buFont typeface="Wingdings" panose="05000000000000000000" pitchFamily="2" charset="2"/>
              <a:buChar char="§"/>
            </a:pPr>
            <a:r>
              <a:rPr lang="vi-VN" sz="1600" dirty="0"/>
              <a:t>T = 300.0</a:t>
            </a:r>
            <a:r>
              <a:rPr lang="en-US" sz="1600" dirty="0"/>
              <a:t>K</a:t>
            </a:r>
          </a:p>
          <a:p>
            <a:pPr lvl="1">
              <a:buFont typeface="Wingdings" panose="05000000000000000000" pitchFamily="2" charset="2"/>
              <a:buChar char="§"/>
            </a:pPr>
            <a:r>
              <a:rPr lang="vi-VN" sz="1600" dirty="0" err="1"/>
              <a:t>Nna</a:t>
            </a:r>
            <a:r>
              <a:rPr lang="vi-VN" sz="1600" dirty="0"/>
              <a:t> = 1e-12</a:t>
            </a:r>
            <a:r>
              <a:rPr lang="en-US" sz="1600" dirty="0"/>
              <a:t> </a:t>
            </a:r>
            <a:r>
              <a:rPr lang="vi-VN" sz="1600" dirty="0"/>
              <a:t>W/</a:t>
            </a:r>
            <a:r>
              <a:rPr lang="vi-VN" sz="1600" dirty="0" err="1"/>
              <a:t>Hz</a:t>
            </a:r>
            <a:endParaRPr lang="vi-VN" sz="1600" dirty="0"/>
          </a:p>
          <a:p>
            <a:pPr lvl="1">
              <a:buFont typeface="Wingdings" panose="05000000000000000000" pitchFamily="2" charset="2"/>
              <a:buChar char="§"/>
            </a:pPr>
            <a:r>
              <a:rPr lang="vi-VN" sz="1600" dirty="0"/>
              <a:t>k = 1.38e-23</a:t>
            </a:r>
            <a:r>
              <a:rPr lang="en-US" sz="1600" dirty="0"/>
              <a:t> </a:t>
            </a:r>
            <a:r>
              <a:rPr lang="vi-VN" sz="1600" dirty="0"/>
              <a:t>J/K</a:t>
            </a:r>
          </a:p>
          <a:p>
            <a:pPr lvl="1">
              <a:buFont typeface="Wingdings" panose="05000000000000000000" pitchFamily="2" charset="2"/>
              <a:buChar char="§"/>
            </a:pPr>
            <a:r>
              <a:rPr lang="vi-VN" sz="1600" dirty="0"/>
              <a:t>g = 10.0 </a:t>
            </a:r>
            <a:endParaRPr lang="en-US" sz="1600" dirty="0"/>
          </a:p>
          <a:p>
            <a:pPr lvl="1">
              <a:buFont typeface="Wingdings" panose="05000000000000000000" pitchFamily="2" charset="2"/>
              <a:buChar char="§"/>
            </a:pPr>
            <a:endParaRPr lang="en-US" sz="1600" dirty="0"/>
          </a:p>
          <a:p>
            <a:pPr lvl="1">
              <a:buFont typeface="Symbol" panose="05050102010706020507" pitchFamily="18" charset="2"/>
              <a:buChar char="Þ"/>
            </a:pPr>
            <a:r>
              <a:rPr lang="en-US" sz="1600" b="1" dirty="0"/>
              <a:t>Obtained value: 140.00 dB at</a:t>
            </a:r>
          </a:p>
          <a:p>
            <a:pPr marL="457200" lvl="1" indent="0">
              <a:buNone/>
            </a:pPr>
            <a:r>
              <a:rPr lang="en-US" sz="1600" b="1" dirty="0"/>
              <a:t>Rs = 0.01</a:t>
            </a:r>
            <a:r>
              <a:rPr lang="el-GR" sz="1600" b="1" dirty="0"/>
              <a:t>Ω</a:t>
            </a:r>
            <a:r>
              <a:rPr lang="en-US" sz="1600" b="1" dirty="0"/>
              <a:t> and R</a:t>
            </a:r>
            <a:r>
              <a:rPr lang="en-US" sz="1400" b="1" dirty="0"/>
              <a:t>L = 1e9</a:t>
            </a:r>
            <a:r>
              <a:rPr lang="el-GR" sz="1600" b="1" dirty="0"/>
              <a:t>Ω</a:t>
            </a:r>
            <a:endParaRPr lang="en-US" sz="1600" b="1" dirty="0"/>
          </a:p>
          <a:p>
            <a:pPr marL="457200" lvl="1" indent="0">
              <a:buNone/>
            </a:pPr>
            <a:endParaRPr lang="en-US" sz="1600" b="1" dirty="0"/>
          </a:p>
          <a:p>
            <a:pPr lvl="1">
              <a:buFont typeface="Symbol" panose="05050102010706020507" pitchFamily="18" charset="2"/>
              <a:buChar char="Þ"/>
            </a:pPr>
            <a:endParaRPr lang="en-US" sz="1600" b="1" dirty="0"/>
          </a:p>
          <a:p>
            <a:pPr marL="457200" lvl="1" indent="0">
              <a:buNone/>
            </a:pPr>
            <a:endParaRPr lang="en-US" sz="1600" dirty="0"/>
          </a:p>
          <a:p>
            <a:pPr marL="457200" lvl="1" indent="0">
              <a:buNone/>
            </a:pPr>
            <a:endParaRPr lang="en-US" sz="1600" dirty="0"/>
          </a:p>
          <a:p>
            <a:pPr marL="0" indent="0">
              <a:buNone/>
            </a:pPr>
            <a:endParaRPr lang="en-US" sz="2400" dirty="0"/>
          </a:p>
        </p:txBody>
      </p:sp>
    </p:spTree>
    <p:extLst>
      <p:ext uri="{BB962C8B-B14F-4D97-AF65-F5344CB8AC3E}">
        <p14:creationId xmlns:p14="http://schemas.microsoft.com/office/powerpoint/2010/main" val="4018047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7">
                                            <p:txEl>
                                              <p:pRg st="12" end="1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511B2-4A88-401F-51A5-2F5097DB774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0296BA-379E-E925-C5CE-9548C13936E6}"/>
              </a:ext>
            </a:extLst>
          </p:cNvPr>
          <p:cNvSpPr>
            <a:spLocks noGrp="1"/>
          </p:cNvSpPr>
          <p:nvPr>
            <p:ph type="sldNum" sz="quarter" idx="12"/>
          </p:nvPr>
        </p:nvSpPr>
        <p:spPr/>
        <p:txBody>
          <a:bodyPr/>
          <a:lstStyle/>
          <a:p>
            <a:fld id="{9EA0BE3B-158A-4EDF-80DC-E394A0D1600F}" type="slidenum">
              <a:rPr lang="en-US" smtClean="0"/>
              <a:pPr/>
              <a:t>31</a:t>
            </a:fld>
            <a:endParaRPr lang="en-US" dirty="0"/>
          </a:p>
        </p:txBody>
      </p:sp>
      <p:sp>
        <p:nvSpPr>
          <p:cNvPr id="3" name="Title 2">
            <a:extLst>
              <a:ext uri="{FF2B5EF4-FFF2-40B4-BE49-F238E27FC236}">
                <a16:creationId xmlns:a16="http://schemas.microsoft.com/office/drawing/2014/main" id="{CBDC4375-3AF6-F782-606B-FDD4E0D13EAD}"/>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7365E318-0EF0-EEA1-691D-F1E1F092EC47}"/>
              </a:ext>
            </a:extLst>
          </p:cNvPr>
          <p:cNvSpPr>
            <a:spLocks noGrp="1"/>
          </p:cNvSpPr>
          <p:nvPr>
            <p:ph type="body" sz="quarter" idx="13"/>
          </p:nvPr>
        </p:nvSpPr>
        <p:spPr>
          <a:xfrm>
            <a:off x="234950" y="1164920"/>
            <a:ext cx="8674100" cy="5011593"/>
          </a:xfrm>
        </p:spPr>
        <p:txBody>
          <a:bodyPr/>
          <a:lstStyle/>
          <a:p>
            <a:pPr marL="0" indent="0">
              <a:buNone/>
            </a:pPr>
            <a:endParaRPr lang="en-US" sz="1600" dirty="0"/>
          </a:p>
          <a:p>
            <a:pPr marL="0" indent="0">
              <a:buNone/>
            </a:pPr>
            <a:endParaRPr lang="en-US" sz="1600" dirty="0"/>
          </a:p>
          <a:p>
            <a:pPr marL="0" indent="0">
              <a:buNone/>
            </a:pPr>
            <a:endParaRPr lang="en-US" sz="1600" dirty="0"/>
          </a:p>
          <a:p>
            <a:pPr marL="457200" lvl="1" indent="0">
              <a:buNone/>
            </a:pPr>
            <a:endParaRPr lang="en-US" sz="1600" dirty="0"/>
          </a:p>
          <a:p>
            <a:pPr marL="457200" lvl="1" indent="0">
              <a:buNone/>
            </a:pPr>
            <a:endParaRPr lang="en-US" sz="1600" dirty="0"/>
          </a:p>
          <a:p>
            <a:pPr marL="0" indent="0">
              <a:buNone/>
            </a:pPr>
            <a:endParaRPr lang="en-US" sz="2400" dirty="0"/>
          </a:p>
        </p:txBody>
      </p:sp>
      <p:pic>
        <p:nvPicPr>
          <p:cNvPr id="5" name="Picture 4">
            <a:extLst>
              <a:ext uri="{FF2B5EF4-FFF2-40B4-BE49-F238E27FC236}">
                <a16:creationId xmlns:a16="http://schemas.microsoft.com/office/drawing/2014/main" id="{F4C37533-79E7-7638-09A9-BC698BEDC8A8}"/>
              </a:ext>
            </a:extLst>
          </p:cNvPr>
          <p:cNvPicPr>
            <a:picLocks noChangeAspect="1"/>
          </p:cNvPicPr>
          <p:nvPr/>
        </p:nvPicPr>
        <p:blipFill>
          <a:blip r:embed="rId2"/>
          <a:stretch>
            <a:fillRect/>
          </a:stretch>
        </p:blipFill>
        <p:spPr>
          <a:xfrm>
            <a:off x="1988999" y="1164920"/>
            <a:ext cx="5157463" cy="5210001"/>
          </a:xfrm>
          <a:prstGeom prst="rect">
            <a:avLst/>
          </a:prstGeom>
        </p:spPr>
      </p:pic>
      <p:pic>
        <p:nvPicPr>
          <p:cNvPr id="6" name="Picture 5">
            <a:extLst>
              <a:ext uri="{FF2B5EF4-FFF2-40B4-BE49-F238E27FC236}">
                <a16:creationId xmlns:a16="http://schemas.microsoft.com/office/drawing/2014/main" id="{EEC0C0C4-BF50-9B64-472F-953AFD7FD2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35474" y="1114039"/>
            <a:ext cx="5273051" cy="4629921"/>
          </a:xfrm>
          <a:prstGeom prst="rect">
            <a:avLst/>
          </a:prstGeom>
        </p:spPr>
      </p:pic>
    </p:spTree>
    <p:extLst>
      <p:ext uri="{BB962C8B-B14F-4D97-AF65-F5344CB8AC3E}">
        <p14:creationId xmlns:p14="http://schemas.microsoft.com/office/powerpoint/2010/main" val="39345509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CA283-9144-5353-688B-6F39513C2A9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2A8450-7BDB-C18C-0CFF-B41171CD3BFE}"/>
              </a:ext>
            </a:extLst>
          </p:cNvPr>
          <p:cNvSpPr>
            <a:spLocks noGrp="1"/>
          </p:cNvSpPr>
          <p:nvPr>
            <p:ph type="sldNum" sz="quarter" idx="12"/>
          </p:nvPr>
        </p:nvSpPr>
        <p:spPr/>
        <p:txBody>
          <a:bodyPr/>
          <a:lstStyle/>
          <a:p>
            <a:fld id="{9EA0BE3B-158A-4EDF-80DC-E394A0D1600F}" type="slidenum">
              <a:rPr lang="en-US" smtClean="0"/>
              <a:pPr/>
              <a:t>32</a:t>
            </a:fld>
            <a:endParaRPr lang="en-US" dirty="0"/>
          </a:p>
        </p:txBody>
      </p:sp>
      <p:sp>
        <p:nvSpPr>
          <p:cNvPr id="3" name="Title 2">
            <a:extLst>
              <a:ext uri="{FF2B5EF4-FFF2-40B4-BE49-F238E27FC236}">
                <a16:creationId xmlns:a16="http://schemas.microsoft.com/office/drawing/2014/main" id="{5D124BD0-3BA0-D8E8-5079-68BBF8A8BAD7}"/>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866BF943-6C88-6581-7020-1CCBD418BDEB}"/>
              </a:ext>
            </a:extLst>
          </p:cNvPr>
          <p:cNvSpPr>
            <a:spLocks noGrp="1"/>
          </p:cNvSpPr>
          <p:nvPr>
            <p:ph type="body" sz="quarter" idx="13"/>
          </p:nvPr>
        </p:nvSpPr>
        <p:spPr>
          <a:xfrm>
            <a:off x="234950" y="1164920"/>
            <a:ext cx="8674100" cy="5011593"/>
          </a:xfrm>
        </p:spPr>
        <p:txBody>
          <a:bodyPr/>
          <a:lstStyle/>
          <a:p>
            <a:pPr marL="0" indent="0">
              <a:buNone/>
            </a:pPr>
            <a:endParaRPr lang="en-US" sz="1600" dirty="0"/>
          </a:p>
          <a:p>
            <a:pPr marL="0" indent="0">
              <a:buNone/>
            </a:pPr>
            <a:endParaRPr lang="en-US" sz="1600" dirty="0"/>
          </a:p>
          <a:p>
            <a:pPr marL="0" indent="0">
              <a:buNone/>
            </a:pPr>
            <a:r>
              <a:rPr lang="en-US" sz="1600" dirty="0" err="1"/>
              <a:t>Vso</a:t>
            </a:r>
            <a:r>
              <a:rPr lang="en-US" sz="1600" dirty="0"/>
              <a:t> (equation 17-1): </a:t>
            </a:r>
          </a:p>
          <a:p>
            <a:r>
              <a:rPr lang="en-US" sz="1600" dirty="0"/>
              <a:t>R</a:t>
            </a:r>
            <a:r>
              <a:rPr lang="en-US" sz="1400" dirty="0"/>
              <a:t>s</a:t>
            </a:r>
            <a:r>
              <a:rPr lang="en-US" sz="1600" dirty="0"/>
              <a:t> ∈</a:t>
            </a:r>
            <a:r>
              <a:rPr lang="en-US" sz="1600" b="1" dirty="0"/>
              <a:t> </a:t>
            </a:r>
            <a:r>
              <a:rPr lang="en-US" sz="1600" dirty="0"/>
              <a:t>[0.01; 1e6]</a:t>
            </a:r>
          </a:p>
          <a:p>
            <a:r>
              <a:rPr lang="en-US" sz="1600" dirty="0"/>
              <a:t>R</a:t>
            </a:r>
            <a:r>
              <a:rPr lang="en-US" sz="1400" dirty="0"/>
              <a:t>L</a:t>
            </a:r>
            <a:r>
              <a:rPr lang="en-US" sz="1600" dirty="0"/>
              <a:t> ∈</a:t>
            </a:r>
            <a:r>
              <a:rPr lang="en-US" sz="1600" b="1" dirty="0"/>
              <a:t> </a:t>
            </a:r>
            <a:r>
              <a:rPr lang="en-US" sz="1600" dirty="0"/>
              <a:t>[0.01; 1e9]</a:t>
            </a:r>
          </a:p>
          <a:p>
            <a:r>
              <a:rPr lang="en-US" sz="1600" dirty="0"/>
              <a:t>Other parameters:</a:t>
            </a:r>
          </a:p>
          <a:p>
            <a:pPr lvl="1">
              <a:buFont typeface="Wingdings" panose="05000000000000000000" pitchFamily="2" charset="2"/>
              <a:buChar char="§"/>
            </a:pPr>
            <a:r>
              <a:rPr lang="vi-VN" sz="1600" dirty="0" err="1"/>
              <a:t>Vs</a:t>
            </a:r>
            <a:r>
              <a:rPr lang="vi-VN" sz="1600" dirty="0"/>
              <a:t> = 1.0 </a:t>
            </a:r>
            <a:r>
              <a:rPr lang="en-US" sz="1600" dirty="0"/>
              <a:t>V</a:t>
            </a:r>
            <a:endParaRPr lang="vi-VN" sz="1600" dirty="0"/>
          </a:p>
          <a:p>
            <a:pPr lvl="1">
              <a:buFont typeface="Wingdings" panose="05000000000000000000" pitchFamily="2" charset="2"/>
              <a:buChar char="§"/>
            </a:pPr>
            <a:r>
              <a:rPr lang="vi-VN" sz="1600" dirty="0"/>
              <a:t>g = 10.0 </a:t>
            </a:r>
            <a:endParaRPr lang="en-US" sz="1600" dirty="0"/>
          </a:p>
          <a:p>
            <a:pPr lvl="1">
              <a:buFont typeface="Wingdings" panose="05000000000000000000" pitchFamily="2" charset="2"/>
              <a:buChar char="§"/>
            </a:pPr>
            <a:endParaRPr lang="en-US" sz="1600" dirty="0"/>
          </a:p>
          <a:p>
            <a:pPr lvl="1">
              <a:buFont typeface="Symbol" panose="05050102010706020507" pitchFamily="18" charset="2"/>
              <a:buChar char="Þ"/>
            </a:pPr>
            <a:r>
              <a:rPr lang="en-US" sz="1600" b="1" dirty="0"/>
              <a:t>Obtained value: 10V at</a:t>
            </a:r>
          </a:p>
          <a:p>
            <a:pPr marL="457200" lvl="1" indent="0">
              <a:buNone/>
            </a:pPr>
            <a:r>
              <a:rPr lang="en-US" sz="1600" b="1" dirty="0"/>
              <a:t>Rs = 0.01</a:t>
            </a:r>
            <a:r>
              <a:rPr lang="el-GR" sz="1600" b="1" dirty="0"/>
              <a:t>Ω</a:t>
            </a:r>
            <a:r>
              <a:rPr lang="en-US" sz="1600" b="1" dirty="0"/>
              <a:t> and R</a:t>
            </a:r>
            <a:r>
              <a:rPr lang="en-US" sz="1400" b="1" dirty="0"/>
              <a:t>L = 1e9 </a:t>
            </a:r>
            <a:r>
              <a:rPr lang="el-GR" sz="1600" b="1" dirty="0"/>
              <a:t>Ω</a:t>
            </a:r>
            <a:endParaRPr lang="en-US" sz="1600" b="1" dirty="0"/>
          </a:p>
          <a:p>
            <a:pPr marL="457200" lvl="1" indent="0">
              <a:buNone/>
            </a:pPr>
            <a:endParaRPr lang="en-US" sz="1600" b="1" dirty="0"/>
          </a:p>
          <a:p>
            <a:pPr lvl="1">
              <a:buFont typeface="Symbol" panose="05050102010706020507" pitchFamily="18" charset="2"/>
              <a:buChar char="Þ"/>
            </a:pPr>
            <a:endParaRPr lang="en-US" sz="1600" b="1" dirty="0"/>
          </a:p>
          <a:p>
            <a:pPr marL="457200" lvl="1" indent="0">
              <a:buNone/>
            </a:pPr>
            <a:endParaRPr lang="en-US" sz="1600" dirty="0"/>
          </a:p>
          <a:p>
            <a:pPr marL="457200" lvl="1" indent="0">
              <a:buNone/>
            </a:pPr>
            <a:endParaRPr lang="en-US" sz="1600" dirty="0"/>
          </a:p>
          <a:p>
            <a:pPr marL="0" indent="0">
              <a:buNone/>
            </a:pPr>
            <a:endParaRPr lang="en-US" sz="2400" dirty="0"/>
          </a:p>
        </p:txBody>
      </p:sp>
    </p:spTree>
    <p:extLst>
      <p:ext uri="{BB962C8B-B14F-4D97-AF65-F5344CB8AC3E}">
        <p14:creationId xmlns:p14="http://schemas.microsoft.com/office/powerpoint/2010/main" val="1268971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6EE69-0D94-BDD7-AA49-699F4D367D4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46A492-AD62-161F-06A8-C01BF027F569}"/>
              </a:ext>
            </a:extLst>
          </p:cNvPr>
          <p:cNvSpPr>
            <a:spLocks noGrp="1"/>
          </p:cNvSpPr>
          <p:nvPr>
            <p:ph type="sldNum" sz="quarter" idx="12"/>
          </p:nvPr>
        </p:nvSpPr>
        <p:spPr/>
        <p:txBody>
          <a:bodyPr/>
          <a:lstStyle/>
          <a:p>
            <a:fld id="{9EA0BE3B-158A-4EDF-80DC-E394A0D1600F}" type="slidenum">
              <a:rPr lang="en-US" smtClean="0"/>
              <a:pPr/>
              <a:t>33</a:t>
            </a:fld>
            <a:endParaRPr lang="en-US" dirty="0"/>
          </a:p>
        </p:txBody>
      </p:sp>
      <p:sp>
        <p:nvSpPr>
          <p:cNvPr id="3" name="Title 2">
            <a:extLst>
              <a:ext uri="{FF2B5EF4-FFF2-40B4-BE49-F238E27FC236}">
                <a16:creationId xmlns:a16="http://schemas.microsoft.com/office/drawing/2014/main" id="{F41DE57D-54EC-8288-44ED-186FEB2F5113}"/>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6FFFE7BD-13D5-1C41-0846-B172E8104E93}"/>
              </a:ext>
            </a:extLst>
          </p:cNvPr>
          <p:cNvSpPr>
            <a:spLocks noGrp="1"/>
          </p:cNvSpPr>
          <p:nvPr>
            <p:ph type="body" sz="quarter" idx="13"/>
          </p:nvPr>
        </p:nvSpPr>
        <p:spPr>
          <a:xfrm>
            <a:off x="234950" y="1164920"/>
            <a:ext cx="8674100" cy="5011593"/>
          </a:xfrm>
        </p:spPr>
        <p:txBody>
          <a:bodyPr/>
          <a:lstStyle/>
          <a:p>
            <a:pPr marL="0" indent="0">
              <a:buNone/>
            </a:pPr>
            <a:endParaRPr lang="en-US" sz="1600" dirty="0"/>
          </a:p>
          <a:p>
            <a:pPr marL="0" indent="0">
              <a:buNone/>
            </a:pPr>
            <a:endParaRPr lang="en-US" sz="1600" dirty="0"/>
          </a:p>
          <a:p>
            <a:pPr marL="0" indent="0">
              <a:buNone/>
            </a:pPr>
            <a:endParaRPr lang="en-US" sz="1600" dirty="0"/>
          </a:p>
          <a:p>
            <a:pPr marL="457200" lvl="1" indent="0">
              <a:buNone/>
            </a:pPr>
            <a:endParaRPr lang="en-US" sz="1600" dirty="0"/>
          </a:p>
          <a:p>
            <a:pPr marL="457200" lvl="1" indent="0">
              <a:buNone/>
            </a:pPr>
            <a:endParaRPr lang="en-US" sz="1600" dirty="0"/>
          </a:p>
          <a:p>
            <a:pPr marL="0" indent="0">
              <a:buNone/>
            </a:pPr>
            <a:endParaRPr lang="en-US" sz="2400" dirty="0"/>
          </a:p>
        </p:txBody>
      </p:sp>
      <p:pic>
        <p:nvPicPr>
          <p:cNvPr id="12" name="Picture 11" descr="A diagram of a cube&#10;&#10;AI-generated content may be incorrect.">
            <a:extLst>
              <a:ext uri="{FF2B5EF4-FFF2-40B4-BE49-F238E27FC236}">
                <a16:creationId xmlns:a16="http://schemas.microsoft.com/office/drawing/2014/main" id="{B6F953DE-90CE-6193-9ED0-292A32314A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950" y="1265079"/>
            <a:ext cx="8673846" cy="4811274"/>
          </a:xfrm>
          <a:prstGeom prst="rect">
            <a:avLst/>
          </a:prstGeom>
        </p:spPr>
      </p:pic>
    </p:spTree>
    <p:extLst>
      <p:ext uri="{BB962C8B-B14F-4D97-AF65-F5344CB8AC3E}">
        <p14:creationId xmlns:p14="http://schemas.microsoft.com/office/powerpoint/2010/main" val="7319577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C84B3-07E2-7BFF-28A3-43EA38401F9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E13AB7-6434-DA37-172A-8633A33733EC}"/>
              </a:ext>
            </a:extLst>
          </p:cNvPr>
          <p:cNvSpPr>
            <a:spLocks noGrp="1"/>
          </p:cNvSpPr>
          <p:nvPr>
            <p:ph type="sldNum" sz="quarter" idx="12"/>
          </p:nvPr>
        </p:nvSpPr>
        <p:spPr/>
        <p:txBody>
          <a:bodyPr/>
          <a:lstStyle/>
          <a:p>
            <a:fld id="{9EA0BE3B-158A-4EDF-80DC-E394A0D1600F}" type="slidenum">
              <a:rPr lang="en-US" smtClean="0"/>
              <a:pPr/>
              <a:t>34</a:t>
            </a:fld>
            <a:endParaRPr lang="en-US" dirty="0"/>
          </a:p>
        </p:txBody>
      </p:sp>
      <p:sp>
        <p:nvSpPr>
          <p:cNvPr id="3" name="Title 2">
            <a:extLst>
              <a:ext uri="{FF2B5EF4-FFF2-40B4-BE49-F238E27FC236}">
                <a16:creationId xmlns:a16="http://schemas.microsoft.com/office/drawing/2014/main" id="{063CAE64-2AD9-5752-58B8-CE85DC468581}"/>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83CBDF2E-F25F-1187-C1CB-D282989EB5F5}"/>
              </a:ext>
            </a:extLst>
          </p:cNvPr>
          <p:cNvSpPr>
            <a:spLocks noGrp="1"/>
          </p:cNvSpPr>
          <p:nvPr>
            <p:ph type="body" sz="quarter" idx="13"/>
          </p:nvPr>
        </p:nvSpPr>
        <p:spPr>
          <a:xfrm>
            <a:off x="234950" y="1164920"/>
            <a:ext cx="8674100" cy="5011593"/>
          </a:xfrm>
        </p:spPr>
        <p:txBody>
          <a:bodyPr/>
          <a:lstStyle/>
          <a:p>
            <a:pPr marL="0" indent="0">
              <a:buNone/>
            </a:pPr>
            <a:endParaRPr lang="en-US" sz="1600" dirty="0"/>
          </a:p>
          <a:p>
            <a:pPr marL="0" indent="0">
              <a:buNone/>
            </a:pPr>
            <a:endParaRPr lang="en-US" sz="1600" dirty="0"/>
          </a:p>
          <a:p>
            <a:pPr marL="0" indent="0">
              <a:buNone/>
            </a:pPr>
            <a:r>
              <a:rPr lang="en-US" sz="1600" dirty="0" err="1"/>
              <a:t>Pso</a:t>
            </a:r>
            <a:r>
              <a:rPr lang="en-US" sz="1600" dirty="0"/>
              <a:t> (equation 17-2): </a:t>
            </a:r>
          </a:p>
          <a:p>
            <a:r>
              <a:rPr lang="en-US" sz="1600" dirty="0"/>
              <a:t>R</a:t>
            </a:r>
            <a:r>
              <a:rPr lang="en-US" sz="1400" dirty="0"/>
              <a:t>s</a:t>
            </a:r>
            <a:r>
              <a:rPr lang="en-US" sz="1600" dirty="0"/>
              <a:t> ∈</a:t>
            </a:r>
            <a:r>
              <a:rPr lang="en-US" sz="1600" b="1" dirty="0"/>
              <a:t> </a:t>
            </a:r>
            <a:r>
              <a:rPr lang="en-US" sz="1600" dirty="0"/>
              <a:t>[0.01; 1e6]</a:t>
            </a:r>
          </a:p>
          <a:p>
            <a:r>
              <a:rPr lang="en-US" sz="1600" dirty="0"/>
              <a:t>R</a:t>
            </a:r>
            <a:r>
              <a:rPr lang="en-US" sz="1400" dirty="0"/>
              <a:t>L</a:t>
            </a:r>
            <a:r>
              <a:rPr lang="en-US" sz="1600" dirty="0"/>
              <a:t> ∈</a:t>
            </a:r>
            <a:r>
              <a:rPr lang="en-US" sz="1600" b="1" dirty="0"/>
              <a:t> </a:t>
            </a:r>
            <a:r>
              <a:rPr lang="en-US" sz="1600" dirty="0"/>
              <a:t>[0.01; 1e9]</a:t>
            </a:r>
          </a:p>
          <a:p>
            <a:r>
              <a:rPr lang="en-US" sz="1600" dirty="0"/>
              <a:t>Other parameters:</a:t>
            </a:r>
          </a:p>
          <a:p>
            <a:pPr lvl="1">
              <a:buFont typeface="Wingdings" panose="05000000000000000000" pitchFamily="2" charset="2"/>
              <a:buChar char="§"/>
            </a:pPr>
            <a:r>
              <a:rPr lang="vi-VN" sz="1600" dirty="0" err="1"/>
              <a:t>Vs</a:t>
            </a:r>
            <a:r>
              <a:rPr lang="vi-VN" sz="1600" dirty="0"/>
              <a:t> = 1.0 </a:t>
            </a:r>
            <a:r>
              <a:rPr lang="en-US" sz="1600" dirty="0"/>
              <a:t>V</a:t>
            </a:r>
            <a:endParaRPr lang="vi-VN" sz="1600" dirty="0"/>
          </a:p>
          <a:p>
            <a:pPr lvl="1">
              <a:buFont typeface="Wingdings" panose="05000000000000000000" pitchFamily="2" charset="2"/>
              <a:buChar char="§"/>
            </a:pPr>
            <a:r>
              <a:rPr lang="vi-VN" sz="1600" dirty="0"/>
              <a:t>g = 10.0 </a:t>
            </a:r>
            <a:endParaRPr lang="en-US" sz="1600" dirty="0"/>
          </a:p>
          <a:p>
            <a:pPr lvl="1">
              <a:buFont typeface="Wingdings" panose="05000000000000000000" pitchFamily="2" charset="2"/>
              <a:buChar char="§"/>
            </a:pPr>
            <a:r>
              <a:rPr lang="en-US" sz="1600" dirty="0"/>
              <a:t>Ro = 50</a:t>
            </a:r>
            <a:r>
              <a:rPr lang="el-GR" sz="1600" dirty="0"/>
              <a:t>Ω</a:t>
            </a:r>
            <a:endParaRPr lang="en-US" sz="1600" dirty="0"/>
          </a:p>
          <a:p>
            <a:pPr lvl="1">
              <a:buFont typeface="Wingdings" panose="05000000000000000000" pitchFamily="2" charset="2"/>
              <a:buChar char="§"/>
            </a:pPr>
            <a:endParaRPr lang="en-US" sz="1600" dirty="0"/>
          </a:p>
          <a:p>
            <a:pPr lvl="1">
              <a:buFont typeface="Symbol" panose="05050102010706020507" pitchFamily="18" charset="2"/>
              <a:buChar char="Þ"/>
            </a:pPr>
            <a:r>
              <a:rPr lang="en-US" sz="1600" b="1" dirty="0"/>
              <a:t>Obtained value: 0.5 W at</a:t>
            </a:r>
          </a:p>
          <a:p>
            <a:pPr marL="457200" lvl="1" indent="0">
              <a:buNone/>
            </a:pPr>
            <a:r>
              <a:rPr lang="en-US" sz="1600" b="1" dirty="0"/>
              <a:t>Rs = 0.01</a:t>
            </a:r>
            <a:r>
              <a:rPr lang="el-GR" sz="1600" b="1" dirty="0"/>
              <a:t>Ω</a:t>
            </a:r>
            <a:r>
              <a:rPr lang="en-US" sz="1600" b="1" dirty="0"/>
              <a:t> and R</a:t>
            </a:r>
            <a:r>
              <a:rPr lang="en-US" sz="1400" b="1" dirty="0"/>
              <a:t>L = 1e9</a:t>
            </a:r>
            <a:r>
              <a:rPr lang="el-GR" sz="1600" b="1" dirty="0"/>
              <a:t>Ω</a:t>
            </a:r>
            <a:endParaRPr lang="en-US" sz="1600" b="1" dirty="0"/>
          </a:p>
          <a:p>
            <a:pPr marL="457200" lvl="1" indent="0">
              <a:buNone/>
            </a:pPr>
            <a:endParaRPr lang="en-US" sz="1600" b="1" dirty="0"/>
          </a:p>
          <a:p>
            <a:pPr lvl="1">
              <a:buFont typeface="Symbol" panose="05050102010706020507" pitchFamily="18" charset="2"/>
              <a:buChar char="Þ"/>
            </a:pPr>
            <a:endParaRPr lang="en-US" sz="1600" b="1" dirty="0"/>
          </a:p>
          <a:p>
            <a:pPr marL="457200" lvl="1" indent="0">
              <a:buNone/>
            </a:pPr>
            <a:endParaRPr lang="en-US" sz="1600" dirty="0"/>
          </a:p>
          <a:p>
            <a:pPr marL="457200" lvl="1" indent="0">
              <a:buNone/>
            </a:pPr>
            <a:endParaRPr lang="en-US" sz="1600" dirty="0"/>
          </a:p>
          <a:p>
            <a:pPr marL="0" indent="0">
              <a:buNone/>
            </a:pPr>
            <a:endParaRPr lang="en-US" sz="2400" dirty="0"/>
          </a:p>
        </p:txBody>
      </p:sp>
    </p:spTree>
    <p:extLst>
      <p:ext uri="{BB962C8B-B14F-4D97-AF65-F5344CB8AC3E}">
        <p14:creationId xmlns:p14="http://schemas.microsoft.com/office/powerpoint/2010/main" val="3069655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6729-612F-F94C-093E-E19DED76847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E4E074-80D9-1A15-6100-4AB1E5760094}"/>
              </a:ext>
            </a:extLst>
          </p:cNvPr>
          <p:cNvSpPr>
            <a:spLocks noGrp="1"/>
          </p:cNvSpPr>
          <p:nvPr>
            <p:ph type="sldNum" sz="quarter" idx="12"/>
          </p:nvPr>
        </p:nvSpPr>
        <p:spPr/>
        <p:txBody>
          <a:bodyPr/>
          <a:lstStyle/>
          <a:p>
            <a:fld id="{9EA0BE3B-158A-4EDF-80DC-E394A0D1600F}" type="slidenum">
              <a:rPr lang="en-US" smtClean="0"/>
              <a:pPr/>
              <a:t>35</a:t>
            </a:fld>
            <a:endParaRPr lang="en-US" dirty="0"/>
          </a:p>
        </p:txBody>
      </p:sp>
      <p:sp>
        <p:nvSpPr>
          <p:cNvPr id="3" name="Title 2">
            <a:extLst>
              <a:ext uri="{FF2B5EF4-FFF2-40B4-BE49-F238E27FC236}">
                <a16:creationId xmlns:a16="http://schemas.microsoft.com/office/drawing/2014/main" id="{4BF8A865-D908-8DC2-D586-EBCFC7D9249E}"/>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27D9F93E-A93B-4D4C-2E17-77B1213E4D50}"/>
              </a:ext>
            </a:extLst>
          </p:cNvPr>
          <p:cNvSpPr>
            <a:spLocks noGrp="1"/>
          </p:cNvSpPr>
          <p:nvPr>
            <p:ph type="body" sz="quarter" idx="13"/>
          </p:nvPr>
        </p:nvSpPr>
        <p:spPr>
          <a:xfrm>
            <a:off x="234950" y="1164920"/>
            <a:ext cx="8674100" cy="5011593"/>
          </a:xfrm>
        </p:spPr>
        <p:txBody>
          <a:bodyPr/>
          <a:lstStyle/>
          <a:p>
            <a:pPr marL="0" indent="0">
              <a:buNone/>
            </a:pPr>
            <a:endParaRPr lang="en-US" sz="1600" dirty="0"/>
          </a:p>
          <a:p>
            <a:pPr marL="0" indent="0">
              <a:buNone/>
            </a:pPr>
            <a:endParaRPr lang="en-US" sz="1600" dirty="0"/>
          </a:p>
          <a:p>
            <a:pPr marL="0" indent="0">
              <a:buNone/>
            </a:pPr>
            <a:endParaRPr lang="en-US" sz="1600" dirty="0"/>
          </a:p>
          <a:p>
            <a:pPr marL="457200" lvl="1" indent="0">
              <a:buNone/>
            </a:pPr>
            <a:endParaRPr lang="en-US" sz="1600" dirty="0"/>
          </a:p>
          <a:p>
            <a:pPr marL="457200" lvl="1" indent="0">
              <a:buNone/>
            </a:pPr>
            <a:endParaRPr lang="en-US" sz="1600" dirty="0"/>
          </a:p>
          <a:p>
            <a:pPr marL="0" indent="0">
              <a:buNone/>
            </a:pPr>
            <a:endParaRPr lang="en-US" sz="2400" dirty="0"/>
          </a:p>
        </p:txBody>
      </p:sp>
      <p:pic>
        <p:nvPicPr>
          <p:cNvPr id="6" name="Picture 5" descr="A diagram of a cube&#10;&#10;AI-generated content may be incorrect.">
            <a:extLst>
              <a:ext uri="{FF2B5EF4-FFF2-40B4-BE49-F238E27FC236}">
                <a16:creationId xmlns:a16="http://schemas.microsoft.com/office/drawing/2014/main" id="{2014EC3E-FBED-F885-A4FE-3E651C2767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3984" y="1257104"/>
            <a:ext cx="6896032" cy="4827223"/>
          </a:xfrm>
          <a:prstGeom prst="rect">
            <a:avLst/>
          </a:prstGeom>
        </p:spPr>
      </p:pic>
    </p:spTree>
    <p:extLst>
      <p:ext uri="{BB962C8B-B14F-4D97-AF65-F5344CB8AC3E}">
        <p14:creationId xmlns:p14="http://schemas.microsoft.com/office/powerpoint/2010/main" val="28586806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5611A-6233-1B43-0231-9BAABF880AB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F01F8A-9E13-F9CE-1C61-4555B18C2A3A}"/>
              </a:ext>
            </a:extLst>
          </p:cNvPr>
          <p:cNvSpPr>
            <a:spLocks noGrp="1"/>
          </p:cNvSpPr>
          <p:nvPr>
            <p:ph type="sldNum" sz="quarter" idx="12"/>
          </p:nvPr>
        </p:nvSpPr>
        <p:spPr/>
        <p:txBody>
          <a:bodyPr/>
          <a:lstStyle/>
          <a:p>
            <a:fld id="{9EA0BE3B-158A-4EDF-80DC-E394A0D1600F}" type="slidenum">
              <a:rPr lang="en-US" smtClean="0"/>
              <a:pPr/>
              <a:t>36</a:t>
            </a:fld>
            <a:endParaRPr lang="en-US" dirty="0"/>
          </a:p>
        </p:txBody>
      </p:sp>
      <p:sp>
        <p:nvSpPr>
          <p:cNvPr id="3" name="Title 2">
            <a:extLst>
              <a:ext uri="{FF2B5EF4-FFF2-40B4-BE49-F238E27FC236}">
                <a16:creationId xmlns:a16="http://schemas.microsoft.com/office/drawing/2014/main" id="{F05ABED4-018B-1BFE-FDDC-94D6B9A1230A}"/>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23B40389-C37A-7F3E-F239-6E323BF1AAD6}"/>
              </a:ext>
            </a:extLst>
          </p:cNvPr>
          <p:cNvSpPr>
            <a:spLocks noGrp="1"/>
          </p:cNvSpPr>
          <p:nvPr>
            <p:ph type="body" sz="quarter" idx="13"/>
          </p:nvPr>
        </p:nvSpPr>
        <p:spPr>
          <a:xfrm>
            <a:off x="234950" y="1164920"/>
            <a:ext cx="8674100" cy="5011593"/>
          </a:xfrm>
        </p:spPr>
        <p:txBody>
          <a:bodyPr/>
          <a:lstStyle/>
          <a:p>
            <a:pPr marL="0" indent="0">
              <a:buNone/>
            </a:pPr>
            <a:endParaRPr lang="en-US" sz="1600" dirty="0"/>
          </a:p>
          <a:p>
            <a:pPr marL="0" indent="0">
              <a:buNone/>
            </a:pPr>
            <a:endParaRPr lang="en-US" sz="1600" dirty="0"/>
          </a:p>
          <a:p>
            <a:pPr marL="0" indent="0">
              <a:buNone/>
            </a:pPr>
            <a:r>
              <a:rPr lang="en-US" sz="1600" dirty="0" err="1"/>
              <a:t>Pno</a:t>
            </a:r>
            <a:r>
              <a:rPr lang="en-US" sz="1600" dirty="0"/>
              <a:t> (equation 19): </a:t>
            </a:r>
          </a:p>
          <a:p>
            <a:r>
              <a:rPr lang="en-US" sz="1600" dirty="0"/>
              <a:t>R</a:t>
            </a:r>
            <a:r>
              <a:rPr lang="en-US" sz="1400" dirty="0"/>
              <a:t>s</a:t>
            </a:r>
            <a:r>
              <a:rPr lang="en-US" sz="1600" dirty="0"/>
              <a:t> ∈</a:t>
            </a:r>
            <a:r>
              <a:rPr lang="en-US" sz="1600" b="1" dirty="0"/>
              <a:t> </a:t>
            </a:r>
            <a:r>
              <a:rPr lang="en-US" sz="1600" dirty="0"/>
              <a:t>[0.01; 1e6]</a:t>
            </a:r>
          </a:p>
          <a:p>
            <a:r>
              <a:rPr lang="en-US" sz="1600" dirty="0"/>
              <a:t>R</a:t>
            </a:r>
            <a:r>
              <a:rPr lang="en-US" sz="1400" dirty="0"/>
              <a:t>L</a:t>
            </a:r>
            <a:r>
              <a:rPr lang="en-US" sz="1600" dirty="0"/>
              <a:t> ∈</a:t>
            </a:r>
            <a:r>
              <a:rPr lang="en-US" sz="1600" b="1" dirty="0"/>
              <a:t> </a:t>
            </a:r>
            <a:r>
              <a:rPr lang="en-US" sz="1600" dirty="0"/>
              <a:t>[0.01; 1e9]</a:t>
            </a:r>
          </a:p>
          <a:p>
            <a:r>
              <a:rPr lang="en-US" sz="1600" dirty="0"/>
              <a:t>Other parameters:</a:t>
            </a:r>
          </a:p>
          <a:p>
            <a:pPr lvl="1">
              <a:buFont typeface="Wingdings" panose="05000000000000000000" pitchFamily="2" charset="2"/>
              <a:buChar char="§"/>
            </a:pPr>
            <a:r>
              <a:rPr lang="en-US" sz="1600" dirty="0"/>
              <a:t>Ro = 50</a:t>
            </a:r>
            <a:r>
              <a:rPr lang="el-GR" sz="1600" b="1" dirty="0"/>
              <a:t>Ω</a:t>
            </a:r>
            <a:endParaRPr lang="vi-VN" sz="1600" b="1" dirty="0"/>
          </a:p>
          <a:p>
            <a:pPr lvl="1">
              <a:buFont typeface="Wingdings" panose="05000000000000000000" pitchFamily="2" charset="2"/>
              <a:buChar char="§"/>
            </a:pPr>
            <a:r>
              <a:rPr lang="vi-VN" sz="1600" dirty="0"/>
              <a:t>T = 300.0</a:t>
            </a:r>
            <a:r>
              <a:rPr lang="en-US" sz="1600" dirty="0"/>
              <a:t>K</a:t>
            </a:r>
          </a:p>
          <a:p>
            <a:pPr lvl="1">
              <a:buFont typeface="Wingdings" panose="05000000000000000000" pitchFamily="2" charset="2"/>
              <a:buChar char="§"/>
            </a:pPr>
            <a:r>
              <a:rPr lang="vi-VN" sz="1600" dirty="0" err="1"/>
              <a:t>Nna</a:t>
            </a:r>
            <a:r>
              <a:rPr lang="vi-VN" sz="1600" dirty="0"/>
              <a:t> = 1e-12</a:t>
            </a:r>
            <a:r>
              <a:rPr lang="en-US" sz="1600" dirty="0"/>
              <a:t> </a:t>
            </a:r>
            <a:r>
              <a:rPr lang="vi-VN" sz="1600" dirty="0"/>
              <a:t>W/</a:t>
            </a:r>
            <a:r>
              <a:rPr lang="vi-VN" sz="1600" dirty="0" err="1"/>
              <a:t>Hz</a:t>
            </a:r>
            <a:endParaRPr lang="vi-VN" sz="1600" dirty="0"/>
          </a:p>
          <a:p>
            <a:pPr lvl="1">
              <a:buFont typeface="Wingdings" panose="05000000000000000000" pitchFamily="2" charset="2"/>
              <a:buChar char="§"/>
            </a:pPr>
            <a:r>
              <a:rPr lang="vi-VN" sz="1600" dirty="0"/>
              <a:t>k = 1.38e-23</a:t>
            </a:r>
            <a:r>
              <a:rPr lang="en-US" sz="1600" dirty="0"/>
              <a:t> </a:t>
            </a:r>
            <a:r>
              <a:rPr lang="vi-VN" sz="1600" dirty="0"/>
              <a:t>J/K</a:t>
            </a:r>
          </a:p>
          <a:p>
            <a:pPr lvl="1">
              <a:buFont typeface="Wingdings" panose="05000000000000000000" pitchFamily="2" charset="2"/>
              <a:buChar char="§"/>
            </a:pPr>
            <a:r>
              <a:rPr lang="vi-VN" sz="1600" dirty="0"/>
              <a:t>g = 10.0 </a:t>
            </a:r>
            <a:endParaRPr lang="en-US" sz="1600" dirty="0"/>
          </a:p>
          <a:p>
            <a:pPr lvl="1">
              <a:buFont typeface="Wingdings" panose="05000000000000000000" pitchFamily="2" charset="2"/>
              <a:buChar char="§"/>
            </a:pPr>
            <a:endParaRPr lang="en-US" sz="1600" dirty="0"/>
          </a:p>
          <a:p>
            <a:pPr lvl="1">
              <a:buFont typeface="Symbol" panose="05050102010706020507" pitchFamily="18" charset="2"/>
              <a:buChar char="Þ"/>
            </a:pPr>
            <a:r>
              <a:rPr lang="en-US" sz="1600" b="1" dirty="0"/>
              <a:t>Minimum </a:t>
            </a:r>
            <a:r>
              <a:rPr lang="en-US" sz="1600" b="1" dirty="0" err="1"/>
              <a:t>Pno</a:t>
            </a:r>
            <a:r>
              <a:rPr lang="en-US" sz="1600" b="1" dirty="0"/>
              <a:t>: 5.0000e-15 W | Rs = 0.01 </a:t>
            </a:r>
            <a:r>
              <a:rPr lang="el-GR" sz="1600" b="1" dirty="0"/>
              <a:t>Ω | </a:t>
            </a:r>
            <a:r>
              <a:rPr lang="en-US" sz="1600" b="1" dirty="0" err="1"/>
              <a:t>Rl</a:t>
            </a:r>
            <a:r>
              <a:rPr lang="en-US" sz="1600" b="1" dirty="0"/>
              <a:t> = 950714306.39 </a:t>
            </a:r>
            <a:r>
              <a:rPr lang="el-GR" sz="1600" b="1" dirty="0"/>
              <a:t>Ω</a:t>
            </a:r>
            <a:endParaRPr lang="en-US" sz="1600" b="1" dirty="0"/>
          </a:p>
          <a:p>
            <a:pPr lvl="1">
              <a:buFont typeface="Symbol" panose="05050102010706020507" pitchFamily="18" charset="2"/>
              <a:buChar char="Þ"/>
            </a:pPr>
            <a:endParaRPr lang="en-US" sz="1600" b="1" dirty="0"/>
          </a:p>
          <a:p>
            <a:pPr marL="457200" lvl="1" indent="0">
              <a:buNone/>
            </a:pPr>
            <a:endParaRPr lang="en-US" sz="1600" dirty="0"/>
          </a:p>
          <a:p>
            <a:pPr marL="457200" lvl="1" indent="0">
              <a:buNone/>
            </a:pPr>
            <a:endParaRPr lang="en-US" sz="1600" dirty="0"/>
          </a:p>
          <a:p>
            <a:pPr marL="0" indent="0">
              <a:buNone/>
            </a:pPr>
            <a:endParaRPr lang="en-US" sz="2400" dirty="0"/>
          </a:p>
        </p:txBody>
      </p:sp>
    </p:spTree>
    <p:extLst>
      <p:ext uri="{BB962C8B-B14F-4D97-AF65-F5344CB8AC3E}">
        <p14:creationId xmlns:p14="http://schemas.microsoft.com/office/powerpoint/2010/main" val="1212296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B6FA9-43B9-FC53-D2BC-23F4B077DFF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A8654C-C72F-0765-0DE3-7EEB332705E9}"/>
              </a:ext>
            </a:extLst>
          </p:cNvPr>
          <p:cNvSpPr>
            <a:spLocks noGrp="1"/>
          </p:cNvSpPr>
          <p:nvPr>
            <p:ph type="sldNum" sz="quarter" idx="12"/>
          </p:nvPr>
        </p:nvSpPr>
        <p:spPr/>
        <p:txBody>
          <a:bodyPr/>
          <a:lstStyle/>
          <a:p>
            <a:fld id="{9EA0BE3B-158A-4EDF-80DC-E394A0D1600F}" type="slidenum">
              <a:rPr lang="en-US" smtClean="0"/>
              <a:pPr/>
              <a:t>37</a:t>
            </a:fld>
            <a:endParaRPr lang="en-US" dirty="0"/>
          </a:p>
        </p:txBody>
      </p:sp>
      <p:sp>
        <p:nvSpPr>
          <p:cNvPr id="3" name="Title 2">
            <a:extLst>
              <a:ext uri="{FF2B5EF4-FFF2-40B4-BE49-F238E27FC236}">
                <a16:creationId xmlns:a16="http://schemas.microsoft.com/office/drawing/2014/main" id="{6DA65B97-685E-B2C9-84AD-685FD925E1BF}"/>
              </a:ext>
            </a:extLst>
          </p:cNvPr>
          <p:cNvSpPr>
            <a:spLocks noGrp="1"/>
          </p:cNvSpPr>
          <p:nvPr>
            <p:ph type="title"/>
          </p:nvPr>
        </p:nvSpPr>
        <p:spPr/>
        <p:txBody>
          <a:bodyPr/>
          <a:lstStyle/>
          <a:p>
            <a:r>
              <a:rPr lang="en-US" dirty="0"/>
              <a:t>Obtained results</a:t>
            </a:r>
          </a:p>
        </p:txBody>
      </p:sp>
      <p:sp>
        <p:nvSpPr>
          <p:cNvPr id="7" name="Text Placeholder 6">
            <a:extLst>
              <a:ext uri="{FF2B5EF4-FFF2-40B4-BE49-F238E27FC236}">
                <a16:creationId xmlns:a16="http://schemas.microsoft.com/office/drawing/2014/main" id="{233ED794-D6EF-FDD3-0296-4EC539EF22C0}"/>
              </a:ext>
            </a:extLst>
          </p:cNvPr>
          <p:cNvSpPr>
            <a:spLocks noGrp="1"/>
          </p:cNvSpPr>
          <p:nvPr>
            <p:ph type="body" sz="quarter" idx="13"/>
          </p:nvPr>
        </p:nvSpPr>
        <p:spPr>
          <a:xfrm>
            <a:off x="234950" y="1164920"/>
            <a:ext cx="8674100" cy="5011593"/>
          </a:xfrm>
        </p:spPr>
        <p:txBody>
          <a:bodyPr/>
          <a:lstStyle/>
          <a:p>
            <a:pPr marL="0" indent="0">
              <a:buNone/>
            </a:pPr>
            <a:endParaRPr lang="en-US" sz="1600" dirty="0"/>
          </a:p>
          <a:p>
            <a:pPr marL="0" indent="0">
              <a:buNone/>
            </a:pPr>
            <a:endParaRPr lang="en-US" sz="1600" dirty="0"/>
          </a:p>
          <a:p>
            <a:pPr marL="0" indent="0">
              <a:buNone/>
            </a:pPr>
            <a:endParaRPr lang="en-US" sz="1600" dirty="0"/>
          </a:p>
          <a:p>
            <a:pPr marL="457200" lvl="1" indent="0">
              <a:buNone/>
            </a:pPr>
            <a:endParaRPr lang="en-US" sz="1600" dirty="0"/>
          </a:p>
          <a:p>
            <a:pPr marL="457200" lvl="1" indent="0">
              <a:buNone/>
            </a:pPr>
            <a:endParaRPr lang="en-US" sz="1600" dirty="0"/>
          </a:p>
          <a:p>
            <a:pPr marL="0" indent="0">
              <a:buNone/>
            </a:pPr>
            <a:endParaRPr lang="en-US" sz="2400" dirty="0"/>
          </a:p>
        </p:txBody>
      </p:sp>
      <p:pic>
        <p:nvPicPr>
          <p:cNvPr id="6" name="Picture 5" descr="A graph of a color curve&#10;&#10;AI-generated content may be incorrect.">
            <a:extLst>
              <a:ext uri="{FF2B5EF4-FFF2-40B4-BE49-F238E27FC236}">
                <a16:creationId xmlns:a16="http://schemas.microsoft.com/office/drawing/2014/main" id="{960E1EB2-836E-850B-E869-81DB3EAAC3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347" y="1237759"/>
            <a:ext cx="6951306" cy="4865914"/>
          </a:xfrm>
          <a:prstGeom prst="rect">
            <a:avLst/>
          </a:prstGeom>
        </p:spPr>
      </p:pic>
      <p:pic>
        <p:nvPicPr>
          <p:cNvPr id="5" name="Picture 4">
            <a:extLst>
              <a:ext uri="{FF2B5EF4-FFF2-40B4-BE49-F238E27FC236}">
                <a16:creationId xmlns:a16="http://schemas.microsoft.com/office/drawing/2014/main" id="{FE312F1D-2FDB-4839-9073-4A5A7C4E3E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7771" y="1114039"/>
            <a:ext cx="5108458" cy="4629921"/>
          </a:xfrm>
          <a:prstGeom prst="rect">
            <a:avLst/>
          </a:prstGeom>
        </p:spPr>
      </p:pic>
    </p:spTree>
    <p:extLst>
      <p:ext uri="{BB962C8B-B14F-4D97-AF65-F5344CB8AC3E}">
        <p14:creationId xmlns:p14="http://schemas.microsoft.com/office/powerpoint/2010/main" val="27174010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3E9B9-B121-AB52-90D2-247F9322EB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F4C3A6-0E13-C631-99D5-0D88DCE5A85F}"/>
              </a:ext>
            </a:extLst>
          </p:cNvPr>
          <p:cNvSpPr>
            <a:spLocks noGrp="1"/>
          </p:cNvSpPr>
          <p:nvPr>
            <p:ph type="title"/>
          </p:nvPr>
        </p:nvSpPr>
        <p:spPr/>
        <p:txBody>
          <a:bodyPr/>
          <a:lstStyle/>
          <a:p>
            <a:endParaRPr lang="en-US" dirty="0"/>
          </a:p>
        </p:txBody>
      </p:sp>
      <p:sp>
        <p:nvSpPr>
          <p:cNvPr id="3" name="Text Placeholder 2">
            <a:extLst>
              <a:ext uri="{FF2B5EF4-FFF2-40B4-BE49-F238E27FC236}">
                <a16:creationId xmlns:a16="http://schemas.microsoft.com/office/drawing/2014/main" id="{3BA69E46-B210-BC3A-BF22-D7FDC8C09B75}"/>
              </a:ext>
            </a:extLst>
          </p:cNvPr>
          <p:cNvSpPr>
            <a:spLocks noGrp="1"/>
          </p:cNvSpPr>
          <p:nvPr>
            <p:ph type="body" sz="quarter" idx="13"/>
          </p:nvPr>
        </p:nvSpPr>
        <p:spPr/>
        <p:txBody>
          <a:bodyPr/>
          <a:lstStyle/>
          <a:p>
            <a:pPr marL="0" indent="0">
              <a:buNone/>
            </a:pPr>
            <a:endParaRPr lang="en-US" dirty="0"/>
          </a:p>
          <a:p>
            <a:pPr marL="0" indent="0">
              <a:buNone/>
            </a:pPr>
            <a:endParaRPr lang="en-US" dirty="0"/>
          </a:p>
          <a:p>
            <a:pPr marL="0" indent="0">
              <a:buNone/>
            </a:pPr>
            <a:endParaRPr lang="en-US" dirty="0"/>
          </a:p>
          <a:p>
            <a:pPr marL="0" indent="0">
              <a:buNone/>
            </a:pPr>
            <a:endParaRPr lang="en-US" dirty="0"/>
          </a:p>
          <a:p>
            <a:pPr marL="571500" indent="-571500">
              <a:buFont typeface="+mj-lt"/>
              <a:buAutoNum type="romanUcPeriod" startAt="4"/>
            </a:pPr>
            <a:r>
              <a:rPr lang="en-US" dirty="0"/>
              <a:t>Conclusions</a:t>
            </a:r>
          </a:p>
        </p:txBody>
      </p:sp>
      <p:sp>
        <p:nvSpPr>
          <p:cNvPr id="4" name="Slide Number Placeholder 3">
            <a:extLst>
              <a:ext uri="{FF2B5EF4-FFF2-40B4-BE49-F238E27FC236}">
                <a16:creationId xmlns:a16="http://schemas.microsoft.com/office/drawing/2014/main" id="{A7CBFBCC-394E-D51C-5565-853AE978A8CE}"/>
              </a:ext>
            </a:extLst>
          </p:cNvPr>
          <p:cNvSpPr>
            <a:spLocks noGrp="1"/>
          </p:cNvSpPr>
          <p:nvPr>
            <p:ph type="sldNum" sz="quarter" idx="12"/>
          </p:nvPr>
        </p:nvSpPr>
        <p:spPr/>
        <p:txBody>
          <a:bodyPr/>
          <a:lstStyle/>
          <a:p>
            <a:fld id="{9EA0BE3B-158A-4EDF-80DC-E394A0D1600F}" type="slidenum">
              <a:rPr lang="en-US" smtClean="0"/>
              <a:pPr/>
              <a:t>38</a:t>
            </a:fld>
            <a:endParaRPr lang="en-US" dirty="0"/>
          </a:p>
        </p:txBody>
      </p:sp>
    </p:spTree>
    <p:extLst>
      <p:ext uri="{BB962C8B-B14F-4D97-AF65-F5344CB8AC3E}">
        <p14:creationId xmlns:p14="http://schemas.microsoft.com/office/powerpoint/2010/main" val="36471823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1393C-593E-FC95-D8FD-8ACE647CB71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9D3DB1-3BC0-A63D-A3F5-B0DB27B10510}"/>
              </a:ext>
            </a:extLst>
          </p:cNvPr>
          <p:cNvSpPr>
            <a:spLocks noGrp="1"/>
          </p:cNvSpPr>
          <p:nvPr>
            <p:ph type="sldNum" sz="quarter" idx="12"/>
          </p:nvPr>
        </p:nvSpPr>
        <p:spPr/>
        <p:txBody>
          <a:bodyPr/>
          <a:lstStyle/>
          <a:p>
            <a:fld id="{9EA0BE3B-158A-4EDF-80DC-E394A0D1600F}" type="slidenum">
              <a:rPr lang="en-US" smtClean="0"/>
              <a:pPr/>
              <a:t>39</a:t>
            </a:fld>
            <a:endParaRPr lang="en-US" dirty="0"/>
          </a:p>
        </p:txBody>
      </p:sp>
      <p:sp>
        <p:nvSpPr>
          <p:cNvPr id="3" name="Title 2">
            <a:extLst>
              <a:ext uri="{FF2B5EF4-FFF2-40B4-BE49-F238E27FC236}">
                <a16:creationId xmlns:a16="http://schemas.microsoft.com/office/drawing/2014/main" id="{D0623206-EB49-5C18-FB56-00CE43532873}"/>
              </a:ext>
            </a:extLst>
          </p:cNvPr>
          <p:cNvSpPr>
            <a:spLocks noGrp="1"/>
          </p:cNvSpPr>
          <p:nvPr>
            <p:ph type="title"/>
          </p:nvPr>
        </p:nvSpPr>
        <p:spPr/>
        <p:txBody>
          <a:bodyPr/>
          <a:lstStyle/>
          <a:p>
            <a:r>
              <a:rPr lang="en-US" dirty="0"/>
              <a:t>Conclusions</a:t>
            </a:r>
          </a:p>
        </p:txBody>
      </p:sp>
      <p:sp>
        <p:nvSpPr>
          <p:cNvPr id="7" name="Text Placeholder 6">
            <a:extLst>
              <a:ext uri="{FF2B5EF4-FFF2-40B4-BE49-F238E27FC236}">
                <a16:creationId xmlns:a16="http://schemas.microsoft.com/office/drawing/2014/main" id="{14F7B7B6-8A38-4BB2-B95E-565E117AA459}"/>
              </a:ext>
            </a:extLst>
          </p:cNvPr>
          <p:cNvSpPr>
            <a:spLocks noGrp="1"/>
          </p:cNvSpPr>
          <p:nvPr>
            <p:ph type="body" sz="quarter" idx="13"/>
          </p:nvPr>
        </p:nvSpPr>
        <p:spPr>
          <a:xfrm>
            <a:off x="234950" y="1164920"/>
            <a:ext cx="8674100" cy="5011593"/>
          </a:xfrm>
        </p:spPr>
        <p:txBody>
          <a:bodyPr/>
          <a:lstStyle/>
          <a:p>
            <a:pPr marL="457200" lvl="1" indent="0">
              <a:buNone/>
            </a:pPr>
            <a:endParaRPr lang="en-US" sz="1600" dirty="0"/>
          </a:p>
          <a:p>
            <a:pPr marL="457200" lvl="1" indent="0">
              <a:buNone/>
            </a:pPr>
            <a:endParaRPr lang="en-US" sz="1600" dirty="0"/>
          </a:p>
          <a:p>
            <a:r>
              <a:rPr lang="en-US" sz="2000" dirty="0"/>
              <a:t>From (9), while impedance matching result in an optimized SNR, it is limited to a specific reactance, meaning broadband is not supported</a:t>
            </a:r>
            <a:endParaRPr lang="en-US" sz="1600" dirty="0"/>
          </a:p>
          <a:p>
            <a:pPr lvl="1"/>
            <a:endParaRPr lang="en-US" sz="1600" dirty="0"/>
          </a:p>
          <a:p>
            <a:pPr lvl="1"/>
            <a:endParaRPr lang="en-US" sz="1600" dirty="0"/>
          </a:p>
          <a:p>
            <a:r>
              <a:rPr lang="en-US" sz="2000" dirty="0"/>
              <a:t>From the obtained results of eq 18, to achieve the maximum signal voltage, we should connect the antenna (the source) to an amplifier with an infinite input impedance (an open circuit). This is equivalent to drawing no current or power from the antenna. </a:t>
            </a:r>
          </a:p>
          <a:p>
            <a:endParaRPr lang="en-US" sz="2000" dirty="0"/>
          </a:p>
          <a:p>
            <a:r>
              <a:rPr lang="en-US" sz="2000" dirty="0"/>
              <a:t>Obtained results directly challenges the conventional wisdom that there must be power transfer (i.e., there must be current and a finite load) for the amplifier to operate effectively</a:t>
            </a:r>
          </a:p>
          <a:p>
            <a:pPr marL="457200" lvl="1" indent="0">
              <a:buNone/>
            </a:pPr>
            <a:endParaRPr lang="en-US" sz="1600" dirty="0"/>
          </a:p>
          <a:p>
            <a:pPr marL="457200" lvl="1" indent="0">
              <a:buNone/>
            </a:pPr>
            <a:endParaRPr lang="en-US" sz="1600" dirty="0"/>
          </a:p>
          <a:p>
            <a:pPr marL="0" indent="0">
              <a:buNone/>
            </a:pPr>
            <a:endParaRPr lang="en-US" sz="2400" dirty="0"/>
          </a:p>
        </p:txBody>
      </p:sp>
    </p:spTree>
    <p:extLst>
      <p:ext uri="{BB962C8B-B14F-4D97-AF65-F5344CB8AC3E}">
        <p14:creationId xmlns:p14="http://schemas.microsoft.com/office/powerpoint/2010/main" val="33353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40</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2703</TotalTime>
  <Words>1195</Words>
  <Application>Microsoft Macintosh PowerPoint</Application>
  <PresentationFormat>On-screen Show (4:3)</PresentationFormat>
  <Paragraphs>368</Paragraphs>
  <Slides>40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Cambria Math</vt:lpstr>
      <vt:lpstr>Lato</vt:lpstr>
      <vt:lpstr>Symbol</vt:lpstr>
      <vt:lpstr>Wingdings</vt:lpstr>
      <vt:lpstr>Office Theme</vt:lpstr>
      <vt:lpstr>PowerPoint Presentation</vt:lpstr>
      <vt:lpstr>How Much Power Must We Extract From a Receiver Antenna to Effect Communications?  </vt:lpstr>
      <vt:lpstr>PowerPoint Presentation</vt:lpstr>
      <vt:lpstr>Table of contents</vt:lpstr>
      <vt:lpstr>PowerPoint Presentation</vt:lpstr>
      <vt:lpstr>Paper’s goals:   </vt:lpstr>
      <vt:lpstr>Summary</vt:lpstr>
      <vt:lpstr>Paper’s conclusion</vt:lpstr>
      <vt:lpstr>PowerPoint Presentation</vt:lpstr>
      <vt:lpstr>Objectives  </vt:lpstr>
      <vt:lpstr>Objectives  </vt:lpstr>
      <vt:lpstr>Objectives  </vt:lpstr>
      <vt:lpstr>Objectives  </vt:lpstr>
      <vt:lpstr>Objectives  </vt:lpstr>
      <vt:lpstr>Objectives  </vt:lpstr>
      <vt:lpstr>Objectives  </vt:lpstr>
      <vt:lpstr>Optimization method  </vt:lpstr>
      <vt:lpstr>Optimization method  </vt:lpstr>
      <vt:lpstr>Optimization method  </vt:lpstr>
      <vt:lpstr>Optimization method  </vt:lpstr>
      <vt:lpstr>PowerPoint Presentation</vt:lpstr>
      <vt:lpstr>Obtained results</vt:lpstr>
      <vt:lpstr>Obtained results</vt:lpstr>
      <vt:lpstr>Obtained results</vt:lpstr>
      <vt:lpstr>Obtained results</vt:lpstr>
      <vt:lpstr>Obtained results</vt:lpstr>
      <vt:lpstr>Obtained results</vt:lpstr>
      <vt:lpstr>Obtained results</vt:lpstr>
      <vt:lpstr>Obtained results</vt:lpstr>
      <vt:lpstr>Obtained results</vt:lpstr>
      <vt:lpstr>Obtained results</vt:lpstr>
      <vt:lpstr>Obtained results</vt:lpstr>
      <vt:lpstr>Obtained results</vt:lpstr>
      <vt:lpstr>Obtained results</vt:lpstr>
      <vt:lpstr>Obtained results</vt:lpstr>
      <vt:lpstr>Obtained results</vt:lpstr>
      <vt:lpstr>Obtained results</vt:lpstr>
      <vt:lpstr>PowerPoint Presentation</vt:lpstr>
      <vt:lpstr>Conclusions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Vu Nguyen Anh Tuan 202417212</cp:lastModifiedBy>
  <cp:revision>59</cp:revision>
  <dcterms:created xsi:type="dcterms:W3CDTF">2021-05-28T04:32:29Z</dcterms:created>
  <dcterms:modified xsi:type="dcterms:W3CDTF">2026-06-25T01:52:59Z</dcterms:modified>
</cp:coreProperties>
</file>